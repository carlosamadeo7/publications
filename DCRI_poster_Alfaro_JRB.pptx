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7"/>
  </p:notesMasterIdLst>
  <p:sldIdLst>
    <p:sldId id="256" r:id="rId6"/>
  </p:sldIdLst>
  <p:sldSz cx="30275213" cy="42711688"/>
  <p:notesSz cx="9144000" cy="6858000"/>
  <p:defaultTextStyle>
    <a:defPPr>
      <a:defRPr lang="en-US"/>
    </a:defPPr>
    <a:lvl1pPr marL="0" algn="l" defTabSz="7477432" rtl="0" eaLnBrk="1" latinLnBrk="0" hangingPunct="1">
      <a:defRPr sz="14800" kern="1200">
        <a:solidFill>
          <a:schemeClr val="tx1"/>
        </a:solidFill>
        <a:latin typeface="+mn-lt"/>
        <a:ea typeface="+mn-ea"/>
        <a:cs typeface="+mn-cs"/>
      </a:defRPr>
    </a:lvl1pPr>
    <a:lvl2pPr marL="3738716" algn="l" defTabSz="7477432" rtl="0" eaLnBrk="1" latinLnBrk="0" hangingPunct="1">
      <a:defRPr sz="14800" kern="1200">
        <a:solidFill>
          <a:schemeClr val="tx1"/>
        </a:solidFill>
        <a:latin typeface="+mn-lt"/>
        <a:ea typeface="+mn-ea"/>
        <a:cs typeface="+mn-cs"/>
      </a:defRPr>
    </a:lvl2pPr>
    <a:lvl3pPr marL="7477432" algn="l" defTabSz="7477432" rtl="0" eaLnBrk="1" latinLnBrk="0" hangingPunct="1">
      <a:defRPr sz="14800" kern="1200">
        <a:solidFill>
          <a:schemeClr val="tx1"/>
        </a:solidFill>
        <a:latin typeface="+mn-lt"/>
        <a:ea typeface="+mn-ea"/>
        <a:cs typeface="+mn-cs"/>
      </a:defRPr>
    </a:lvl3pPr>
    <a:lvl4pPr marL="11216147" algn="l" defTabSz="7477432" rtl="0" eaLnBrk="1" latinLnBrk="0" hangingPunct="1">
      <a:defRPr sz="14800" kern="1200">
        <a:solidFill>
          <a:schemeClr val="tx1"/>
        </a:solidFill>
        <a:latin typeface="+mn-lt"/>
        <a:ea typeface="+mn-ea"/>
        <a:cs typeface="+mn-cs"/>
      </a:defRPr>
    </a:lvl4pPr>
    <a:lvl5pPr marL="14954863" algn="l" defTabSz="7477432" rtl="0" eaLnBrk="1" latinLnBrk="0" hangingPunct="1">
      <a:defRPr sz="14800" kern="1200">
        <a:solidFill>
          <a:schemeClr val="tx1"/>
        </a:solidFill>
        <a:latin typeface="+mn-lt"/>
        <a:ea typeface="+mn-ea"/>
        <a:cs typeface="+mn-cs"/>
      </a:defRPr>
    </a:lvl5pPr>
    <a:lvl6pPr marL="18693581" algn="l" defTabSz="7477432" rtl="0" eaLnBrk="1" latinLnBrk="0" hangingPunct="1">
      <a:defRPr sz="14800" kern="1200">
        <a:solidFill>
          <a:schemeClr val="tx1"/>
        </a:solidFill>
        <a:latin typeface="+mn-lt"/>
        <a:ea typeface="+mn-ea"/>
        <a:cs typeface="+mn-cs"/>
      </a:defRPr>
    </a:lvl6pPr>
    <a:lvl7pPr marL="22432296" algn="l" defTabSz="7477432" rtl="0" eaLnBrk="1" latinLnBrk="0" hangingPunct="1">
      <a:defRPr sz="14800" kern="1200">
        <a:solidFill>
          <a:schemeClr val="tx1"/>
        </a:solidFill>
        <a:latin typeface="+mn-lt"/>
        <a:ea typeface="+mn-ea"/>
        <a:cs typeface="+mn-cs"/>
      </a:defRPr>
    </a:lvl7pPr>
    <a:lvl8pPr marL="26171012" algn="l" defTabSz="7477432" rtl="0" eaLnBrk="1" latinLnBrk="0" hangingPunct="1">
      <a:defRPr sz="14800" kern="1200">
        <a:solidFill>
          <a:schemeClr val="tx1"/>
        </a:solidFill>
        <a:latin typeface="+mn-lt"/>
        <a:ea typeface="+mn-ea"/>
        <a:cs typeface="+mn-cs"/>
      </a:defRPr>
    </a:lvl8pPr>
    <a:lvl9pPr marL="29909728" algn="l" defTabSz="7477432" rtl="0" eaLnBrk="1" latinLnBrk="0" hangingPunct="1">
      <a:defRPr sz="14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53" userDrawn="1">
          <p15:clr>
            <a:srgbClr val="A4A3A4"/>
          </p15:clr>
        </p15:guide>
        <p15:guide id="2" pos="953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3F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57" autoAdjust="0"/>
    <p:restoredTop sz="95706" autoAdjust="0"/>
  </p:normalViewPr>
  <p:slideViewPr>
    <p:cSldViewPr>
      <p:cViewPr>
        <p:scale>
          <a:sx n="22" d="100"/>
          <a:sy n="22" d="100"/>
        </p:scale>
        <p:origin x="1800" y="-1565"/>
      </p:cViewPr>
      <p:guideLst>
        <p:guide orient="horz" pos="13453"/>
        <p:guide pos="9536"/>
      </p:guideLst>
    </p:cSldViewPr>
  </p:slideViewPr>
  <p:notesTextViewPr>
    <p:cViewPr>
      <p:scale>
        <a:sx n="1" d="1"/>
        <a:sy n="1" d="1"/>
      </p:scale>
      <p:origin x="0" y="0"/>
    </p:cViewPr>
  </p:notesTextViewPr>
  <p:notesViewPr>
    <p:cSldViewPr>
      <p:cViewPr varScale="1">
        <p:scale>
          <a:sx n="161" d="100"/>
          <a:sy n="161" d="100"/>
        </p:scale>
        <p:origin x="3080"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0" y="0"/>
            <a:ext cx="6172200" cy="8709899"/>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1572745602"/>
      </p:ext>
    </p:extLst>
  </p:cSld>
  <p:clrMap bg1="lt1" tx1="dk1" bg2="lt2" tx2="dk2" accent1="accent1" accent2="accent2" accent3="accent3" accent4="accent4" accent5="accent5" accent6="accent6" hlink="hlink" folHlink="folHlink"/>
  <p:notesStyle>
    <a:lvl1pPr marL="0" algn="l" defTabSz="7477432" rtl="0" eaLnBrk="1" latinLnBrk="0" hangingPunct="1">
      <a:defRPr sz="9800" kern="1200">
        <a:solidFill>
          <a:schemeClr val="tx1"/>
        </a:solidFill>
        <a:latin typeface="+mn-lt"/>
        <a:ea typeface="+mn-ea"/>
        <a:cs typeface="+mn-cs"/>
      </a:defRPr>
    </a:lvl1pPr>
    <a:lvl2pPr marL="3738716" algn="l" defTabSz="7477432" rtl="0" eaLnBrk="1" latinLnBrk="0" hangingPunct="1">
      <a:defRPr sz="9800" kern="1200">
        <a:solidFill>
          <a:schemeClr val="tx1"/>
        </a:solidFill>
        <a:latin typeface="+mn-lt"/>
        <a:ea typeface="+mn-ea"/>
        <a:cs typeface="+mn-cs"/>
      </a:defRPr>
    </a:lvl2pPr>
    <a:lvl3pPr marL="7477432" algn="l" defTabSz="7477432" rtl="0" eaLnBrk="1" latinLnBrk="0" hangingPunct="1">
      <a:defRPr sz="9800" kern="1200">
        <a:solidFill>
          <a:schemeClr val="tx1"/>
        </a:solidFill>
        <a:latin typeface="+mn-lt"/>
        <a:ea typeface="+mn-ea"/>
        <a:cs typeface="+mn-cs"/>
      </a:defRPr>
    </a:lvl3pPr>
    <a:lvl4pPr marL="11216147" algn="l" defTabSz="7477432" rtl="0" eaLnBrk="1" latinLnBrk="0" hangingPunct="1">
      <a:defRPr sz="9800" kern="1200">
        <a:solidFill>
          <a:schemeClr val="tx1"/>
        </a:solidFill>
        <a:latin typeface="+mn-lt"/>
        <a:ea typeface="+mn-ea"/>
        <a:cs typeface="+mn-cs"/>
      </a:defRPr>
    </a:lvl4pPr>
    <a:lvl5pPr marL="14954863" algn="l" defTabSz="7477432" rtl="0" eaLnBrk="1" latinLnBrk="0" hangingPunct="1">
      <a:defRPr sz="9800" kern="1200">
        <a:solidFill>
          <a:schemeClr val="tx1"/>
        </a:solidFill>
        <a:latin typeface="+mn-lt"/>
        <a:ea typeface="+mn-ea"/>
        <a:cs typeface="+mn-cs"/>
      </a:defRPr>
    </a:lvl5pPr>
    <a:lvl6pPr marL="18693581" algn="l" defTabSz="7477432" rtl="0" eaLnBrk="1" latinLnBrk="0" hangingPunct="1">
      <a:defRPr sz="9800" kern="1200">
        <a:solidFill>
          <a:schemeClr val="tx1"/>
        </a:solidFill>
        <a:latin typeface="+mn-lt"/>
        <a:ea typeface="+mn-ea"/>
        <a:cs typeface="+mn-cs"/>
      </a:defRPr>
    </a:lvl6pPr>
    <a:lvl7pPr marL="22432296" algn="l" defTabSz="7477432" rtl="0" eaLnBrk="1" latinLnBrk="0" hangingPunct="1">
      <a:defRPr sz="9800" kern="1200">
        <a:solidFill>
          <a:schemeClr val="tx1"/>
        </a:solidFill>
        <a:latin typeface="+mn-lt"/>
        <a:ea typeface="+mn-ea"/>
        <a:cs typeface="+mn-cs"/>
      </a:defRPr>
    </a:lvl7pPr>
    <a:lvl8pPr marL="26171012" algn="l" defTabSz="7477432" rtl="0" eaLnBrk="1" latinLnBrk="0" hangingPunct="1">
      <a:defRPr sz="9800" kern="1200">
        <a:solidFill>
          <a:schemeClr val="tx1"/>
        </a:solidFill>
        <a:latin typeface="+mn-lt"/>
        <a:ea typeface="+mn-ea"/>
        <a:cs typeface="+mn-cs"/>
      </a:defRPr>
    </a:lvl8pPr>
    <a:lvl9pPr marL="29909728" algn="l" defTabSz="7477432" rtl="0" eaLnBrk="1" latinLnBrk="0" hangingPunct="1">
      <a:defRPr sz="9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60775" y="514350"/>
            <a:ext cx="1822450" cy="2571750"/>
          </a:xfrm>
        </p:spPr>
        <p:txBody>
          <a:bodyPr/>
          <a:lstStyle/>
          <a:p>
            <a:endParaRPr lang="en-US"/>
          </a:p>
        </p:txBody>
      </p:sp>
      <p:sp>
        <p:nvSpPr>
          <p:cNvPr id="3" name="Notes Placeholder 2"/>
          <p:cNvSpPr>
            <a:spLocks noGrp="1"/>
          </p:cNvSpPr>
          <p:nvPr>
            <p:ph type="body" idx="1"/>
          </p:nvPr>
        </p:nvSpPr>
        <p:spPr>
          <a:xfrm>
            <a:off x="914400" y="3200400"/>
            <a:ext cx="7315200" cy="3086100"/>
          </a:xfrm>
          <a:prstGeom prst="rect">
            <a:avLst/>
          </a:prstGeom>
        </p:spPr>
        <p:txBody>
          <a:bodyPr/>
          <a:lstStyle/>
          <a:p>
            <a:endParaRPr lang="en-US" dirty="0"/>
          </a:p>
        </p:txBody>
      </p:sp>
      <p:sp>
        <p:nvSpPr>
          <p:cNvPr id="4" name="Slide Number Placeholder 3"/>
          <p:cNvSpPr>
            <a:spLocks noGrp="1"/>
          </p:cNvSpPr>
          <p:nvPr>
            <p:ph type="sldNum" sz="quarter" idx="10"/>
          </p:nvPr>
        </p:nvSpPr>
        <p:spPr>
          <a:xfrm>
            <a:off x="5180013" y="6513513"/>
            <a:ext cx="3962400" cy="342900"/>
          </a:xfrm>
          <a:prstGeom prst="rect">
            <a:avLst/>
          </a:prstGeom>
        </p:spPr>
        <p:txBody>
          <a:bodyPr/>
          <a:lstStyle/>
          <a:p>
            <a:fld id="{D7B08014-49AF-4FE1-8CF8-2C9E008C07A1}" type="slidenum">
              <a:rPr lang="en-US" smtClean="0"/>
              <a:t>1</a:t>
            </a:fld>
            <a:endParaRPr lang="en-US"/>
          </a:p>
        </p:txBody>
      </p:sp>
    </p:spTree>
    <p:extLst>
      <p:ext uri="{BB962C8B-B14F-4D97-AF65-F5344CB8AC3E}">
        <p14:creationId xmlns:p14="http://schemas.microsoft.com/office/powerpoint/2010/main" val="209465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4806" y="307909"/>
            <a:ext cx="4012406" cy="3366461"/>
          </a:xfrm>
          <a:prstGeom prst="rect">
            <a:avLst/>
          </a:prstGeom>
        </p:spPr>
      </p:pic>
      <p:pic>
        <p:nvPicPr>
          <p:cNvPr id="12" name="Picture 1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6264394" y="628633"/>
            <a:ext cx="3607300" cy="2725014"/>
          </a:xfrm>
          <a:prstGeom prst="rect">
            <a:avLst/>
          </a:prstGeom>
        </p:spPr>
      </p:pic>
      <p:sp>
        <p:nvSpPr>
          <p:cNvPr id="11" name="Parallelogram 10"/>
          <p:cNvSpPr/>
          <p:nvPr/>
        </p:nvSpPr>
        <p:spPr>
          <a:xfrm flipH="1">
            <a:off x="3326606" y="0"/>
            <a:ext cx="22937788" cy="3601240"/>
          </a:xfrm>
          <a:prstGeom prst="parallelogram">
            <a:avLst>
              <a:gd name="adj" fmla="val 47798"/>
            </a:avLst>
          </a:prstGeom>
          <a:gradFill flip="none" rotWithShape="1">
            <a:gsLst>
              <a:gs pos="0">
                <a:srgbClr val="2D3F72"/>
              </a:gs>
              <a:gs pos="0">
                <a:schemeClr val="accent1">
                  <a:lumMod val="75000"/>
                </a:schemeClr>
              </a:gs>
              <a:gs pos="100000">
                <a:schemeClr val="tx2">
                  <a:lumMod val="60000"/>
                  <a:lumOff val="40000"/>
                  <a:shade val="100000"/>
                  <a:satMod val="115000"/>
                </a:schemeClr>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84550" tIns="92274" rIns="184550" bIns="92274" rtlCol="0" anchor="ctr"/>
          <a:lstStyle/>
          <a:p>
            <a:pPr algn="ctr"/>
            <a:endParaRPr lang="en-US" sz="19202"/>
          </a:p>
        </p:txBody>
      </p:sp>
    </p:spTree>
  </p:cSld>
  <p:clrMap bg1="lt1" tx1="dk1" bg2="lt2" tx2="dk2" accent1="accent1" accent2="accent2" accent3="accent3" accent4="accent4" accent5="accent5" accent6="accent6" hlink="hlink" folHlink="folHlink"/>
  <p:sldLayoutIdLst>
    <p:sldLayoutId id="2147483649" r:id="rId1"/>
  </p:sldLayoutIdLst>
  <p:hf hdr="0"/>
  <p:txStyles>
    <p:titleStyle>
      <a:lvl1pPr algn="ctr" defTabSz="9701580" rtl="0" eaLnBrk="1" latinLnBrk="0" hangingPunct="1">
        <a:lnSpc>
          <a:spcPts val="61537"/>
        </a:lnSpc>
        <a:spcBef>
          <a:spcPct val="0"/>
        </a:spcBef>
        <a:buNone/>
        <a:defRPr sz="19331" kern="1200">
          <a:solidFill>
            <a:schemeClr val="bg1"/>
          </a:solidFill>
          <a:effectLst>
            <a:outerShdw blurRad="63500" dist="38100" dir="5400000" algn="t" rotWithShape="0">
              <a:prstClr val="black">
                <a:alpha val="25000"/>
              </a:prstClr>
            </a:outerShdw>
          </a:effectLst>
          <a:latin typeface="+mn-lt"/>
          <a:ea typeface="+mj-ea"/>
          <a:cs typeface="+mj-cs"/>
        </a:defRPr>
      </a:lvl1pPr>
    </p:titleStyle>
    <p:bodyStyle>
      <a:lvl1pPr marL="3638094" indent="-3638094" algn="l" defTabSz="9701580" rtl="0" eaLnBrk="1" latinLnBrk="0" hangingPunct="1">
        <a:spcBef>
          <a:spcPct val="20000"/>
        </a:spcBef>
        <a:buFont typeface="Arial" pitchFamily="34" charset="0"/>
        <a:buChar char="•"/>
        <a:defRPr sz="25430" kern="1200">
          <a:solidFill>
            <a:schemeClr val="tx1">
              <a:lumMod val="50000"/>
              <a:lumOff val="50000"/>
            </a:schemeClr>
          </a:solidFill>
          <a:latin typeface="+mj-lt"/>
          <a:ea typeface="+mn-ea"/>
          <a:cs typeface="+mn-cs"/>
        </a:defRPr>
      </a:lvl1pPr>
      <a:lvl2pPr marL="7882533" indent="-3031742" algn="l" defTabSz="9701580" rtl="0" eaLnBrk="1" latinLnBrk="0" hangingPunct="1">
        <a:spcBef>
          <a:spcPct val="20000"/>
        </a:spcBef>
        <a:buFont typeface="Courier New" pitchFamily="49" charset="0"/>
        <a:buChar char="o"/>
        <a:defRPr sz="16996" kern="1200">
          <a:solidFill>
            <a:schemeClr val="tx1">
              <a:lumMod val="50000"/>
              <a:lumOff val="50000"/>
            </a:schemeClr>
          </a:solidFill>
          <a:latin typeface="+mj-lt"/>
          <a:ea typeface="+mn-ea"/>
          <a:cs typeface="+mn-cs"/>
        </a:defRPr>
      </a:lvl2pPr>
      <a:lvl3pPr marL="12126975" indent="-2425396" algn="l" defTabSz="9701580" rtl="0" eaLnBrk="1" latinLnBrk="0" hangingPunct="1">
        <a:spcBef>
          <a:spcPct val="20000"/>
        </a:spcBef>
        <a:buFont typeface="Arial" pitchFamily="34" charset="0"/>
        <a:buChar char="•"/>
        <a:defRPr sz="16996" kern="1200">
          <a:solidFill>
            <a:schemeClr val="tx1">
              <a:lumMod val="50000"/>
              <a:lumOff val="50000"/>
            </a:schemeClr>
          </a:solidFill>
          <a:latin typeface="+mj-lt"/>
          <a:ea typeface="+mn-ea"/>
          <a:cs typeface="+mn-cs"/>
        </a:defRPr>
      </a:lvl3pPr>
      <a:lvl4pPr marL="16977764" indent="-2425396" algn="l" defTabSz="9701580" rtl="0" eaLnBrk="1" latinLnBrk="0" hangingPunct="1">
        <a:spcBef>
          <a:spcPct val="20000"/>
        </a:spcBef>
        <a:buFont typeface="Courier New" pitchFamily="49" charset="0"/>
        <a:buChar char="o"/>
        <a:defRPr sz="16996" kern="1200">
          <a:solidFill>
            <a:schemeClr val="tx1">
              <a:lumMod val="50000"/>
              <a:lumOff val="50000"/>
            </a:schemeClr>
          </a:solidFill>
          <a:latin typeface="+mj-lt"/>
          <a:ea typeface="+mn-ea"/>
          <a:cs typeface="+mn-cs"/>
        </a:defRPr>
      </a:lvl4pPr>
      <a:lvl5pPr marL="19403161" indent="0" algn="l" defTabSz="9701580" rtl="0" eaLnBrk="1" latinLnBrk="0" hangingPunct="1">
        <a:spcBef>
          <a:spcPct val="20000"/>
        </a:spcBef>
        <a:buFont typeface="Arial" pitchFamily="34" charset="0"/>
        <a:buNone/>
        <a:defRPr sz="16996" kern="1200">
          <a:solidFill>
            <a:schemeClr val="tx1">
              <a:lumMod val="50000"/>
              <a:lumOff val="50000"/>
            </a:schemeClr>
          </a:solidFill>
          <a:latin typeface="+mj-lt"/>
          <a:ea typeface="+mn-ea"/>
          <a:cs typeface="+mn-cs"/>
        </a:defRPr>
      </a:lvl5pPr>
      <a:lvl6pPr marL="26679346" indent="-2425396" algn="l" defTabSz="9701580" rtl="0" eaLnBrk="1" latinLnBrk="0" hangingPunct="1">
        <a:spcBef>
          <a:spcPct val="20000"/>
        </a:spcBef>
        <a:buFont typeface="Courier New" pitchFamily="49" charset="0"/>
        <a:buChar char="o"/>
        <a:defRPr sz="16996" kern="1200">
          <a:solidFill>
            <a:schemeClr val="tx1">
              <a:lumMod val="50000"/>
              <a:lumOff val="50000"/>
            </a:schemeClr>
          </a:solidFill>
          <a:latin typeface="+mj-lt"/>
          <a:ea typeface="+mn-ea"/>
          <a:cs typeface="+mn-cs"/>
        </a:defRPr>
      </a:lvl6pPr>
      <a:lvl7pPr marL="31530135" indent="-2425396" algn="l" defTabSz="9701580" rtl="0" eaLnBrk="1" latinLnBrk="0" hangingPunct="1">
        <a:spcBef>
          <a:spcPct val="20000"/>
        </a:spcBef>
        <a:buFont typeface="Arial" pitchFamily="34" charset="0"/>
        <a:buChar char="•"/>
        <a:defRPr sz="16996" kern="1200">
          <a:solidFill>
            <a:schemeClr val="tx1">
              <a:lumMod val="50000"/>
              <a:lumOff val="50000"/>
            </a:schemeClr>
          </a:solidFill>
          <a:latin typeface="+mj-lt"/>
          <a:ea typeface="+mn-ea"/>
          <a:cs typeface="+mn-cs"/>
        </a:defRPr>
      </a:lvl7pPr>
      <a:lvl8pPr marL="36380924" indent="-2425396" algn="l" defTabSz="9701580" rtl="0" eaLnBrk="1" latinLnBrk="0" hangingPunct="1">
        <a:spcBef>
          <a:spcPct val="20000"/>
        </a:spcBef>
        <a:buFont typeface="Courier New" pitchFamily="49" charset="0"/>
        <a:buChar char="o"/>
        <a:defRPr sz="16996" kern="1200">
          <a:solidFill>
            <a:schemeClr val="tx1">
              <a:lumMod val="50000"/>
              <a:lumOff val="50000"/>
            </a:schemeClr>
          </a:solidFill>
          <a:latin typeface="+mj-lt"/>
          <a:ea typeface="+mn-ea"/>
          <a:cs typeface="+mn-cs"/>
        </a:defRPr>
      </a:lvl8pPr>
      <a:lvl9pPr marL="41231715" indent="-2425396" algn="l" defTabSz="9701580" rtl="0" eaLnBrk="1" latinLnBrk="0" hangingPunct="1">
        <a:spcBef>
          <a:spcPct val="20000"/>
        </a:spcBef>
        <a:buFont typeface="Arial" pitchFamily="34" charset="0"/>
        <a:buChar char="•"/>
        <a:defRPr sz="16996" kern="1200">
          <a:solidFill>
            <a:schemeClr val="tx1">
              <a:lumMod val="50000"/>
              <a:lumOff val="50000"/>
            </a:schemeClr>
          </a:solidFill>
          <a:latin typeface="+mj-lt"/>
          <a:ea typeface="+mn-ea"/>
          <a:cs typeface="+mn-cs"/>
        </a:defRPr>
      </a:lvl9pPr>
    </p:bodyStyle>
    <p:otherStyle>
      <a:defPPr>
        <a:defRPr lang="en-US"/>
      </a:defPPr>
      <a:lvl1pPr marL="0" algn="l" defTabSz="9701580" rtl="0" eaLnBrk="1" latinLnBrk="0" hangingPunct="1">
        <a:defRPr sz="19202" kern="1200">
          <a:solidFill>
            <a:schemeClr val="tx1"/>
          </a:solidFill>
          <a:latin typeface="+mn-lt"/>
          <a:ea typeface="+mn-ea"/>
          <a:cs typeface="+mn-cs"/>
        </a:defRPr>
      </a:lvl1pPr>
      <a:lvl2pPr marL="4850789" algn="l" defTabSz="9701580" rtl="0" eaLnBrk="1" latinLnBrk="0" hangingPunct="1">
        <a:defRPr sz="19202" kern="1200">
          <a:solidFill>
            <a:schemeClr val="tx1"/>
          </a:solidFill>
          <a:latin typeface="+mn-lt"/>
          <a:ea typeface="+mn-ea"/>
          <a:cs typeface="+mn-cs"/>
        </a:defRPr>
      </a:lvl2pPr>
      <a:lvl3pPr marL="9701580" algn="l" defTabSz="9701580" rtl="0" eaLnBrk="1" latinLnBrk="0" hangingPunct="1">
        <a:defRPr sz="19202" kern="1200">
          <a:solidFill>
            <a:schemeClr val="tx1"/>
          </a:solidFill>
          <a:latin typeface="+mn-lt"/>
          <a:ea typeface="+mn-ea"/>
          <a:cs typeface="+mn-cs"/>
        </a:defRPr>
      </a:lvl3pPr>
      <a:lvl4pPr marL="14552368" algn="l" defTabSz="9701580" rtl="0" eaLnBrk="1" latinLnBrk="0" hangingPunct="1">
        <a:defRPr sz="19202" kern="1200">
          <a:solidFill>
            <a:schemeClr val="tx1"/>
          </a:solidFill>
          <a:latin typeface="+mn-lt"/>
          <a:ea typeface="+mn-ea"/>
          <a:cs typeface="+mn-cs"/>
        </a:defRPr>
      </a:lvl4pPr>
      <a:lvl5pPr marL="19403159" algn="l" defTabSz="9701580" rtl="0" eaLnBrk="1" latinLnBrk="0" hangingPunct="1">
        <a:defRPr sz="19202" kern="1200">
          <a:solidFill>
            <a:schemeClr val="tx1"/>
          </a:solidFill>
          <a:latin typeface="+mn-lt"/>
          <a:ea typeface="+mn-ea"/>
          <a:cs typeface="+mn-cs"/>
        </a:defRPr>
      </a:lvl5pPr>
      <a:lvl6pPr marL="24253951" algn="l" defTabSz="9701580" rtl="0" eaLnBrk="1" latinLnBrk="0" hangingPunct="1">
        <a:defRPr sz="19202" kern="1200">
          <a:solidFill>
            <a:schemeClr val="tx1"/>
          </a:solidFill>
          <a:latin typeface="+mn-lt"/>
          <a:ea typeface="+mn-ea"/>
          <a:cs typeface="+mn-cs"/>
        </a:defRPr>
      </a:lvl6pPr>
      <a:lvl7pPr marL="29104740" algn="l" defTabSz="9701580" rtl="0" eaLnBrk="1" latinLnBrk="0" hangingPunct="1">
        <a:defRPr sz="19202" kern="1200">
          <a:solidFill>
            <a:schemeClr val="tx1"/>
          </a:solidFill>
          <a:latin typeface="+mn-lt"/>
          <a:ea typeface="+mn-ea"/>
          <a:cs typeface="+mn-cs"/>
        </a:defRPr>
      </a:lvl7pPr>
      <a:lvl8pPr marL="33955530" algn="l" defTabSz="9701580" rtl="0" eaLnBrk="1" latinLnBrk="0" hangingPunct="1">
        <a:defRPr sz="19202" kern="1200">
          <a:solidFill>
            <a:schemeClr val="tx1"/>
          </a:solidFill>
          <a:latin typeface="+mn-lt"/>
          <a:ea typeface="+mn-ea"/>
          <a:cs typeface="+mn-cs"/>
        </a:defRPr>
      </a:lvl8pPr>
      <a:lvl9pPr marL="38806320" algn="l" defTabSz="9701580" rtl="0" eaLnBrk="1" latinLnBrk="0" hangingPunct="1">
        <a:defRPr sz="1920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jpeg"/><Relationship Id="rId3" Type="http://schemas.openxmlformats.org/officeDocument/2006/relationships/hyperlink" Target="mailto:alfaroqu@musc.edu"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1.xml"/><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19" Type="http://schemas.openxmlformats.org/officeDocument/2006/relationships/image" Target="../media/image19.jpe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693227" y="4994713"/>
            <a:ext cx="13446271" cy="37165471"/>
          </a:xfrm>
          <a:prstGeom prst="rect">
            <a:avLst/>
          </a:pr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4550" tIns="92274" rIns="184550" bIns="92274" rtlCol="0" anchor="ctr"/>
          <a:lstStyle/>
          <a:p>
            <a:pPr algn="ctr"/>
            <a:endParaRPr lang="en-US" sz="19202" dirty="0"/>
          </a:p>
        </p:txBody>
      </p:sp>
      <p:sp>
        <p:nvSpPr>
          <p:cNvPr id="12" name="TextBox 11"/>
          <p:cNvSpPr txBox="1"/>
          <p:nvPr/>
        </p:nvSpPr>
        <p:spPr>
          <a:xfrm>
            <a:off x="667109" y="5146245"/>
            <a:ext cx="13440121" cy="20281916"/>
          </a:xfrm>
          <a:prstGeom prst="rect">
            <a:avLst/>
          </a:prstGeom>
          <a:noFill/>
        </p:spPr>
        <p:txBody>
          <a:bodyPr wrap="square" lIns="184550" tIns="92274" rIns="184550" bIns="92274" rtlCol="0">
            <a:spAutoFit/>
          </a:bodyPr>
          <a:lstStyle/>
          <a:p>
            <a:pPr marL="184542" algn="just">
              <a:spcAft>
                <a:spcPts val="600"/>
              </a:spcAft>
            </a:pPr>
            <a:r>
              <a:rPr lang="en-US" sz="3633" b="1" dirty="0">
                <a:latin typeface="Arial"/>
                <a:cs typeface="Arial"/>
              </a:rPr>
              <a:t>Background: </a:t>
            </a:r>
          </a:p>
          <a:p>
            <a:pPr marL="184542" algn="just"/>
            <a:r>
              <a:rPr lang="en-US" sz="3630" dirty="0">
                <a:latin typeface="Arial" panose="020B0604020202020204" pitchFamily="34" charset="0"/>
                <a:cs typeface="Arial" panose="020B0604020202020204" pitchFamily="34" charset="0"/>
              </a:rPr>
              <a:t>Brain tumors are a leading cause of cancer-related mortality in children, with medulloblastoma (MB) being the most common malignant one. Despite advances in treatment, approximately 30% of MB patients experience relapse. Unfortunately, recurrent MB is almost uniformly lethal. Thus, therapies that prevent MB relapse are urgently needed. Recent studies from our lab have shown that MB cells expressing the stemness marker Cluster of Differentiation 15 (CD15) contribute to MB relapse (Cell Death and Dis, 2026). However, the transcriptional program of CD15⁺ cells across MB subgroups and their potential therapeutic vulnerabilities remain largely underexplored.</a:t>
            </a:r>
            <a:endParaRPr lang="en-US" sz="3630" b="1" dirty="0">
              <a:latin typeface="Arial" panose="020B0604020202020204" pitchFamily="34" charset="0"/>
              <a:cs typeface="Arial" panose="020B0604020202020204" pitchFamily="34" charset="0"/>
            </a:endParaRPr>
          </a:p>
          <a:p>
            <a:pPr marL="184542">
              <a:spcBef>
                <a:spcPts val="1211"/>
              </a:spcBef>
              <a:spcAft>
                <a:spcPts val="600"/>
              </a:spcAft>
            </a:pPr>
            <a:r>
              <a:rPr lang="en-US" sz="3633" b="1" dirty="0">
                <a:latin typeface="Arial"/>
                <a:cs typeface="Arial"/>
              </a:rPr>
              <a:t>Specific aims:</a:t>
            </a:r>
          </a:p>
          <a:p>
            <a:pPr marL="369086" lvl="1" indent="553628" algn="just">
              <a:buSzPct val="100000"/>
              <a:buFont typeface="+mj-lt"/>
              <a:buAutoNum type="arabicPeriod"/>
            </a:pPr>
            <a:r>
              <a:rPr lang="en-US" sz="3633" dirty="0">
                <a:latin typeface="Arial"/>
                <a:cs typeface="Arial"/>
              </a:rPr>
              <a:t>Obtain 28 human MB patient samples from </a:t>
            </a:r>
            <a:r>
              <a:rPr lang="en-US" sz="3633" i="1" dirty="0">
                <a:latin typeface="Arial"/>
                <a:cs typeface="Arial"/>
              </a:rPr>
              <a:t>Riemondy et al</a:t>
            </a:r>
            <a:r>
              <a:rPr lang="en-US" sz="3633" dirty="0">
                <a:latin typeface="Arial"/>
                <a:cs typeface="Arial"/>
              </a:rPr>
              <a:t>.2021, comprising SHH, Group 3 and 4.</a:t>
            </a:r>
          </a:p>
          <a:p>
            <a:pPr marL="369086" lvl="1" indent="553628" algn="just">
              <a:buSzPct val="100000"/>
              <a:buFont typeface="+mj-lt"/>
              <a:buAutoNum type="arabicPeriod"/>
            </a:pPr>
            <a:r>
              <a:rPr lang="en-US" sz="3633" dirty="0">
                <a:latin typeface="Arial"/>
                <a:cs typeface="Arial"/>
              </a:rPr>
              <a:t>Characterized the transcriptomic profile of CD15</a:t>
            </a:r>
            <a:r>
              <a:rPr lang="en-US" sz="4000" dirty="0">
                <a:latin typeface="Arial" panose="020B0604020202020204" pitchFamily="34" charset="0"/>
                <a:cs typeface="Arial" panose="020B0604020202020204" pitchFamily="34" charset="0"/>
              </a:rPr>
              <a:t>⁺</a:t>
            </a:r>
            <a:r>
              <a:rPr lang="en-US" sz="3633" dirty="0">
                <a:latin typeface="Arial"/>
                <a:cs typeface="Arial"/>
              </a:rPr>
              <a:t> cells in SHH, Group 3 and 4 MB patient samples.</a:t>
            </a:r>
          </a:p>
          <a:p>
            <a:pPr marL="369086" lvl="1" indent="553628" algn="just">
              <a:buSzPct val="100000"/>
              <a:buFont typeface="+mj-lt"/>
              <a:buAutoNum type="arabicPeriod"/>
            </a:pPr>
            <a:r>
              <a:rPr lang="en-US" sz="3633" dirty="0">
                <a:latin typeface="Arial"/>
                <a:cs typeface="Arial"/>
              </a:rPr>
              <a:t>Calculate pseudo trajectory analysis of SHH CD15</a:t>
            </a:r>
            <a:r>
              <a:rPr lang="en-US" sz="4000" dirty="0">
                <a:latin typeface="Arial" panose="020B0604020202020204" pitchFamily="34" charset="0"/>
                <a:cs typeface="Arial" panose="020B0604020202020204" pitchFamily="34" charset="0"/>
              </a:rPr>
              <a:t>⁺</a:t>
            </a:r>
            <a:r>
              <a:rPr lang="en-US" sz="3633" dirty="0">
                <a:latin typeface="Arial"/>
                <a:cs typeface="Arial"/>
              </a:rPr>
              <a:t> cells to reconstruct dynamic progression of theoretical differentiation.</a:t>
            </a:r>
          </a:p>
          <a:p>
            <a:pPr marL="184542">
              <a:spcBef>
                <a:spcPts val="1211"/>
              </a:spcBef>
              <a:spcAft>
                <a:spcPts val="600"/>
              </a:spcAft>
            </a:pPr>
            <a:r>
              <a:rPr lang="en-US" sz="3633" b="1" dirty="0">
                <a:latin typeface="Arial"/>
                <a:cs typeface="Arial"/>
              </a:rPr>
              <a:t>Design/Methods: </a:t>
            </a:r>
          </a:p>
          <a:p>
            <a:pPr marL="369086" indent="553628">
              <a:buFont typeface="+mj-lt"/>
              <a:buAutoNum type="arabicPeriod"/>
            </a:pPr>
            <a:r>
              <a:rPr lang="en-US" sz="3633" dirty="0">
                <a:latin typeface="Arial"/>
                <a:cs typeface="Arial"/>
              </a:rPr>
              <a:t>Integrative analysis of single cell-RNA seq samples was performed obtaining a spectrum of cellular populations and states across SHH, Group 3 and 4 MB.</a:t>
            </a:r>
          </a:p>
          <a:p>
            <a:pPr marL="369086" indent="553628">
              <a:buFont typeface="+mj-lt"/>
              <a:buAutoNum type="arabicPeriod"/>
            </a:pPr>
            <a:r>
              <a:rPr lang="en-US" sz="3633" dirty="0">
                <a:latin typeface="Arial"/>
                <a:cs typeface="Arial"/>
              </a:rPr>
              <a:t>CD15</a:t>
            </a:r>
            <a:r>
              <a:rPr lang="en-US" sz="4000" dirty="0">
                <a:latin typeface="Arial" panose="020B0604020202020204" pitchFamily="34" charset="0"/>
                <a:cs typeface="Arial" panose="020B0604020202020204" pitchFamily="34" charset="0"/>
              </a:rPr>
              <a:t>⁺</a:t>
            </a:r>
            <a:r>
              <a:rPr lang="en-US" sz="3633" dirty="0">
                <a:latin typeface="Arial"/>
                <a:cs typeface="Arial"/>
              </a:rPr>
              <a:t> signature was derived from </a:t>
            </a:r>
            <a:r>
              <a:rPr lang="en-US" sz="3633" i="1" dirty="0">
                <a:latin typeface="Arial"/>
                <a:cs typeface="Arial"/>
              </a:rPr>
              <a:t>Read et al., 2010; </a:t>
            </a:r>
            <a:r>
              <a:rPr lang="en-US" sz="3633" dirty="0">
                <a:latin typeface="Arial"/>
                <a:cs typeface="Arial"/>
              </a:rPr>
              <a:t>and signature was mapped onto the single-cell object.</a:t>
            </a:r>
          </a:p>
          <a:p>
            <a:pPr marL="369086" indent="553628">
              <a:buFont typeface="+mj-lt"/>
              <a:buAutoNum type="arabicPeriod"/>
            </a:pPr>
            <a:r>
              <a:rPr lang="en-US" sz="3633" dirty="0">
                <a:latin typeface="Arial"/>
                <a:cs typeface="Arial"/>
              </a:rPr>
              <a:t>Pseudobulk differential expression analysis of CD15</a:t>
            </a:r>
            <a:r>
              <a:rPr lang="en-US" sz="4000" dirty="0">
                <a:latin typeface="Arial" panose="020B0604020202020204" pitchFamily="34" charset="0"/>
                <a:cs typeface="Arial" panose="020B0604020202020204" pitchFamily="34" charset="0"/>
              </a:rPr>
              <a:t>⁺</a:t>
            </a:r>
            <a:r>
              <a:rPr lang="en-US" sz="3633" dirty="0">
                <a:latin typeface="Arial"/>
                <a:cs typeface="Arial"/>
              </a:rPr>
              <a:t> vs CD15</a:t>
            </a:r>
            <a:r>
              <a:rPr lang="en-US" sz="3633" baseline="30000" dirty="0">
                <a:latin typeface="Arial"/>
                <a:cs typeface="Arial"/>
              </a:rPr>
              <a:t>-</a:t>
            </a:r>
            <a:r>
              <a:rPr lang="en-US" sz="3633" dirty="0">
                <a:latin typeface="Arial"/>
                <a:cs typeface="Arial"/>
              </a:rPr>
              <a:t> cells was computed to define their transcriptional profile. Functional enrichment analysis was performed on the differential expressed genes.</a:t>
            </a:r>
          </a:p>
          <a:p>
            <a:pPr marL="369086" indent="553628">
              <a:buFont typeface="+mj-lt"/>
              <a:buAutoNum type="arabicPeriod"/>
            </a:pPr>
            <a:r>
              <a:rPr lang="en-US" sz="3633" dirty="0">
                <a:latin typeface="Arial"/>
                <a:cs typeface="Arial"/>
              </a:rPr>
              <a:t>Pseudo trajectory analysis was also computed using </a:t>
            </a:r>
            <a:r>
              <a:rPr lang="en-US" sz="3633" i="1" dirty="0">
                <a:latin typeface="Arial"/>
                <a:cs typeface="Arial"/>
              </a:rPr>
              <a:t>Monocle3</a:t>
            </a:r>
            <a:r>
              <a:rPr lang="en-US" sz="3633" dirty="0">
                <a:latin typeface="Arial"/>
                <a:cs typeface="Arial"/>
              </a:rPr>
              <a:t>, following the estimation of cellular potency with </a:t>
            </a:r>
            <a:r>
              <a:rPr lang="en-US" sz="3633" i="1" dirty="0">
                <a:latin typeface="Arial"/>
                <a:cs typeface="Arial"/>
              </a:rPr>
              <a:t>CytoTRACE2.</a:t>
            </a:r>
            <a:endParaRPr lang="en-US" sz="3633" dirty="0">
              <a:latin typeface="Arial"/>
              <a:cs typeface="Arial"/>
            </a:endParaRPr>
          </a:p>
          <a:p>
            <a:pPr marL="369086" indent="553628">
              <a:buFont typeface="+mj-lt"/>
              <a:buAutoNum type="arabicPeriod"/>
            </a:pPr>
            <a:endParaRPr lang="en-US" sz="3633" dirty="0">
              <a:latin typeface="Arial"/>
              <a:cs typeface="Arial"/>
            </a:endParaRPr>
          </a:p>
        </p:txBody>
      </p:sp>
      <p:sp>
        <p:nvSpPr>
          <p:cNvPr id="16" name="TextBox 15"/>
          <p:cNvSpPr txBox="1"/>
          <p:nvPr/>
        </p:nvSpPr>
        <p:spPr>
          <a:xfrm>
            <a:off x="14506237" y="23302159"/>
            <a:ext cx="14733834" cy="6913448"/>
          </a:xfrm>
          <a:prstGeom prst="rect">
            <a:avLst/>
          </a:prstGeom>
          <a:noFill/>
        </p:spPr>
        <p:txBody>
          <a:bodyPr wrap="square" lIns="184550" tIns="92274" rIns="184550" bIns="92274" rtlCol="0">
            <a:spAutoFit/>
          </a:bodyPr>
          <a:lstStyle/>
          <a:p>
            <a:pPr marL="349250" indent="-349250">
              <a:spcBef>
                <a:spcPts val="404"/>
              </a:spcBef>
              <a:spcAft>
                <a:spcPts val="404"/>
              </a:spcAft>
              <a:buClr>
                <a:schemeClr val="tx1"/>
              </a:buClr>
              <a:buFont typeface="Arial" panose="020B0604020202020204" pitchFamily="34" charset="0"/>
              <a:buChar char="•"/>
              <a:tabLst>
                <a:tab pos="466725" algn="l"/>
              </a:tabLst>
            </a:pPr>
            <a:r>
              <a:rPr lang="en-US" sz="3240" b="1" dirty="0">
                <a:latin typeface="Arial" panose="020B0604020202020204" pitchFamily="34" charset="0"/>
                <a:cs typeface="Arial" panose="020B0604020202020204" pitchFamily="34" charset="0"/>
              </a:rPr>
              <a:t>CD15⁺ cells exhibit a predominantly mitotic phenotype, with the highest enrichment observed in SHH MB</a:t>
            </a:r>
            <a:r>
              <a:rPr lang="en-US" sz="3240" b="1" dirty="0">
                <a:latin typeface="Arial"/>
                <a:cs typeface="Arial"/>
              </a:rPr>
              <a:t>.</a:t>
            </a:r>
            <a:endParaRPr lang="en-US" sz="3244" b="1" dirty="0">
              <a:latin typeface="Arial"/>
              <a:cs typeface="Arial"/>
            </a:endParaRPr>
          </a:p>
          <a:p>
            <a:pPr marL="349222" indent="-349222">
              <a:spcAft>
                <a:spcPts val="404"/>
              </a:spcAft>
              <a:buClr>
                <a:schemeClr val="tx1"/>
              </a:buClr>
              <a:buFont typeface="Arial" pitchFamily="34" charset="0"/>
              <a:buChar char="•"/>
              <a:tabLst>
                <a:tab pos="467763" algn="l"/>
              </a:tabLst>
            </a:pPr>
            <a:r>
              <a:rPr lang="en-US" sz="3244" dirty="0">
                <a:latin typeface="Arial"/>
                <a:cs typeface="Arial"/>
              </a:rPr>
              <a:t>Integrative analysis on single-cell RNA seq combined with  AUCell scoring displays CD15</a:t>
            </a:r>
            <a:r>
              <a:rPr lang="en-US" sz="3200" dirty="0">
                <a:latin typeface="Arial" panose="020B0604020202020204" pitchFamily="34" charset="0"/>
                <a:cs typeface="Arial" panose="020B0604020202020204" pitchFamily="34" charset="0"/>
              </a:rPr>
              <a:t>⁺</a:t>
            </a:r>
            <a:r>
              <a:rPr lang="en-US" sz="3244" dirty="0">
                <a:latin typeface="Arial"/>
                <a:cs typeface="Arial"/>
              </a:rPr>
              <a:t> cells as mitotic cells mainly located in the cell cycling program, with SHH showing the highest proportion of CD15</a:t>
            </a:r>
            <a:r>
              <a:rPr lang="en-US" sz="3200" dirty="0">
                <a:latin typeface="Arial" panose="020B0604020202020204" pitchFamily="34" charset="0"/>
                <a:cs typeface="Arial" panose="020B0604020202020204" pitchFamily="34" charset="0"/>
              </a:rPr>
              <a:t>⁺</a:t>
            </a:r>
            <a:r>
              <a:rPr lang="en-US" sz="3244" dirty="0">
                <a:latin typeface="Arial"/>
                <a:cs typeface="Arial"/>
              </a:rPr>
              <a:t> cells.</a:t>
            </a:r>
          </a:p>
          <a:p>
            <a:pPr marL="349222" indent="-349222">
              <a:spcAft>
                <a:spcPts val="404"/>
              </a:spcAft>
              <a:buClr>
                <a:schemeClr val="tx1"/>
              </a:buClr>
              <a:buFont typeface="Arial" pitchFamily="34" charset="0"/>
              <a:buChar char="•"/>
              <a:tabLst>
                <a:tab pos="467763" algn="l"/>
              </a:tabLst>
            </a:pPr>
            <a:r>
              <a:rPr lang="en-US" sz="3244" b="1" dirty="0">
                <a:latin typeface="Arial"/>
                <a:cs typeface="Arial"/>
              </a:rPr>
              <a:t>Pseudobulk and pseudo trajectory analysis shows CD15</a:t>
            </a:r>
            <a:r>
              <a:rPr lang="en-US" sz="3200" dirty="0">
                <a:latin typeface="Arial" panose="020B0604020202020204" pitchFamily="34" charset="0"/>
                <a:cs typeface="Arial" panose="020B0604020202020204" pitchFamily="34" charset="0"/>
              </a:rPr>
              <a:t>⁺</a:t>
            </a:r>
            <a:r>
              <a:rPr lang="en-US" sz="3244" b="1" dirty="0">
                <a:latin typeface="Arial"/>
                <a:cs typeface="Arial"/>
              </a:rPr>
              <a:t> as mitotic-addict cells with multipotency capability of potential of differentiation. </a:t>
            </a:r>
          </a:p>
          <a:p>
            <a:pPr marL="349222" indent="-349222">
              <a:spcAft>
                <a:spcPts val="404"/>
              </a:spcAft>
              <a:buClr>
                <a:schemeClr val="tx1"/>
              </a:buClr>
              <a:buFont typeface="Arial" pitchFamily="34" charset="0"/>
              <a:buChar char="•"/>
              <a:tabLst>
                <a:tab pos="467763" algn="l"/>
              </a:tabLst>
            </a:pPr>
            <a:r>
              <a:rPr lang="en-US" sz="3280" dirty="0">
                <a:latin typeface="Arial" panose="020B0604020202020204" pitchFamily="34" charset="0"/>
                <a:cs typeface="Arial" panose="020B0604020202020204" pitchFamily="34" charset="0"/>
              </a:rPr>
              <a:t>CytoTRACE2 analysis reveals that the CD15⁺ cell compartment comprises predominantly multipotent and oligopotent cells, with a subset exhibiting pluripotent-like features.</a:t>
            </a:r>
          </a:p>
          <a:p>
            <a:pPr marL="349222" indent="-349222">
              <a:spcAft>
                <a:spcPts val="404"/>
              </a:spcAft>
              <a:buClr>
                <a:schemeClr val="tx1"/>
              </a:buClr>
              <a:buFont typeface="Arial" pitchFamily="34" charset="0"/>
              <a:buChar char="•"/>
              <a:tabLst>
                <a:tab pos="467763" algn="l"/>
              </a:tabLst>
            </a:pPr>
            <a:r>
              <a:rPr lang="en-US" sz="3280" dirty="0" err="1">
                <a:latin typeface="Arial" panose="020B0604020202020204" pitchFamily="34" charset="0"/>
                <a:cs typeface="Arial" panose="020B0604020202020204" pitchFamily="34" charset="0"/>
              </a:rPr>
              <a:t>Pseudotime</a:t>
            </a:r>
            <a:r>
              <a:rPr lang="en-US" sz="3280" dirty="0">
                <a:latin typeface="Arial" panose="020B0604020202020204" pitchFamily="34" charset="0"/>
                <a:cs typeface="Arial" panose="020B0604020202020204" pitchFamily="34" charset="0"/>
              </a:rPr>
              <a:t> trajectory analysis further supports this, showing multiple branching differentiation paths, highlighting the differentiation potential of CD15⁺ cells and warranting further investigation.</a:t>
            </a:r>
          </a:p>
        </p:txBody>
      </p:sp>
      <p:sp>
        <p:nvSpPr>
          <p:cNvPr id="21" name="TextBox 20"/>
          <p:cNvSpPr txBox="1"/>
          <p:nvPr/>
        </p:nvSpPr>
        <p:spPr>
          <a:xfrm>
            <a:off x="14561287" y="31667762"/>
            <a:ext cx="14764534" cy="3719625"/>
          </a:xfrm>
          <a:prstGeom prst="rect">
            <a:avLst/>
          </a:prstGeom>
          <a:noFill/>
        </p:spPr>
        <p:txBody>
          <a:bodyPr wrap="square" lIns="184550" tIns="92274" rIns="184550" bIns="92274" rtlCol="0">
            <a:spAutoFit/>
          </a:bodyPr>
          <a:lstStyle/>
          <a:p>
            <a:pPr marL="457200" indent="-457200">
              <a:buFont typeface="Arial" panose="020B0604020202020204" pitchFamily="34" charset="0"/>
              <a:buChar char="•"/>
              <a:tabLst>
                <a:tab pos="922713" algn="l"/>
              </a:tabLst>
            </a:pPr>
            <a:r>
              <a:rPr lang="en-US" sz="3280" dirty="0">
                <a:latin typeface="Arial"/>
                <a:cs typeface="Arial"/>
              </a:rPr>
              <a:t>Using fully bioinformatic analysis on human samples, we were able to determine the transcriptional profile of CD15</a:t>
            </a:r>
            <a:r>
              <a:rPr lang="en-US" sz="3280" dirty="0">
                <a:latin typeface="Arial" panose="020B0604020202020204" pitchFamily="34" charset="0"/>
                <a:cs typeface="Arial" panose="020B0604020202020204" pitchFamily="34" charset="0"/>
              </a:rPr>
              <a:t>⁺</a:t>
            </a:r>
            <a:r>
              <a:rPr lang="en-US" sz="3280" dirty="0">
                <a:latin typeface="Arial"/>
                <a:cs typeface="Arial"/>
              </a:rPr>
              <a:t> cells in SHH, Group 3 and Group 4 MB. </a:t>
            </a:r>
          </a:p>
          <a:p>
            <a:pPr marL="457200" indent="-457200" algn="just">
              <a:buFont typeface="Arial" panose="020B0604020202020204" pitchFamily="34" charset="0"/>
              <a:buChar char="•"/>
              <a:tabLst>
                <a:tab pos="922713" algn="l"/>
              </a:tabLst>
            </a:pPr>
            <a:r>
              <a:rPr lang="en-US" sz="3280" dirty="0">
                <a:latin typeface="Arial" panose="020B0604020202020204" pitchFamily="34" charset="0"/>
                <a:cs typeface="Arial" panose="020B0604020202020204" pitchFamily="34" charset="0"/>
              </a:rPr>
              <a:t>Pseudobulk differential expression and </a:t>
            </a:r>
            <a:r>
              <a:rPr lang="en-US" sz="3280" dirty="0" err="1">
                <a:latin typeface="Arial" panose="020B0604020202020204" pitchFamily="34" charset="0"/>
                <a:cs typeface="Arial" panose="020B0604020202020204" pitchFamily="34" charset="0"/>
              </a:rPr>
              <a:t>pseudotime</a:t>
            </a:r>
            <a:r>
              <a:rPr lang="en-US" sz="3280" dirty="0">
                <a:latin typeface="Arial" panose="020B0604020202020204" pitchFamily="34" charset="0"/>
                <a:cs typeface="Arial" panose="020B0604020202020204" pitchFamily="34" charset="0"/>
              </a:rPr>
              <a:t> trajectory analyses identify CD15⁺ cells as a subset of cycling cells with a highly mitotic phenotype and multipotent differentiation capacity, suggesting a potential role in MB development and maintenance.</a:t>
            </a:r>
          </a:p>
        </p:txBody>
      </p:sp>
      <p:sp>
        <p:nvSpPr>
          <p:cNvPr id="23" name="TextBox 22"/>
          <p:cNvSpPr txBox="1"/>
          <p:nvPr/>
        </p:nvSpPr>
        <p:spPr>
          <a:xfrm>
            <a:off x="14525458" y="37203772"/>
            <a:ext cx="14817264" cy="2205364"/>
          </a:xfrm>
          <a:prstGeom prst="rect">
            <a:avLst/>
          </a:prstGeom>
          <a:noFill/>
        </p:spPr>
        <p:txBody>
          <a:bodyPr wrap="square" lIns="184550" tIns="92274" rIns="184550" bIns="92274" rtlCol="0">
            <a:spAutoFit/>
          </a:bodyPr>
          <a:lstStyle/>
          <a:p>
            <a:pPr marL="352424" indent="-352424">
              <a:buClr>
                <a:schemeClr val="tx1"/>
              </a:buClr>
              <a:buFont typeface="Arial" pitchFamily="34" charset="0"/>
              <a:buChar char="•"/>
              <a:tabLst>
                <a:tab pos="922713" algn="l"/>
              </a:tabLst>
            </a:pPr>
            <a:r>
              <a:rPr lang="en-US" sz="3280" dirty="0">
                <a:latin typeface="Arial" panose="020B0604020202020204" pitchFamily="34" charset="0"/>
                <a:cs typeface="Arial" panose="020B0604020202020204" pitchFamily="34" charset="0"/>
              </a:rPr>
              <a:t>Elucidate the regulatory landscape of CD15⁺ cells by identifying key transcription factors and upstream regulators using SCENIC and </a:t>
            </a:r>
            <a:r>
              <a:rPr lang="en-US" sz="3280" dirty="0" err="1">
                <a:latin typeface="Arial" panose="020B0604020202020204" pitchFamily="34" charset="0"/>
                <a:cs typeface="Arial" panose="020B0604020202020204" pitchFamily="34" charset="0"/>
              </a:rPr>
              <a:t>decoupleR</a:t>
            </a:r>
            <a:r>
              <a:rPr lang="en-US" sz="3280" dirty="0">
                <a:latin typeface="Arial" panose="020B0604020202020204" pitchFamily="34" charset="0"/>
                <a:cs typeface="Arial" panose="020B0604020202020204" pitchFamily="34" charset="0"/>
              </a:rPr>
              <a:t>.</a:t>
            </a:r>
          </a:p>
          <a:p>
            <a:pPr marL="352424" indent="-352424">
              <a:buClr>
                <a:schemeClr val="tx1"/>
              </a:buClr>
              <a:buFont typeface="Arial" pitchFamily="34" charset="0"/>
              <a:buChar char="•"/>
              <a:tabLst>
                <a:tab pos="922713" algn="l"/>
              </a:tabLst>
            </a:pPr>
            <a:r>
              <a:rPr lang="en-US" sz="3280" dirty="0">
                <a:latin typeface="Arial" panose="020B0604020202020204" pitchFamily="34" charset="0"/>
                <a:cs typeface="Arial" panose="020B0604020202020204" pitchFamily="34" charset="0"/>
              </a:rPr>
              <a:t>Experimentally confirmed CD15⁺ cells-potential in mice models for further studies</a:t>
            </a:r>
          </a:p>
        </p:txBody>
      </p:sp>
      <p:sp>
        <p:nvSpPr>
          <p:cNvPr id="24" name="TextBox 23"/>
          <p:cNvSpPr txBox="1"/>
          <p:nvPr/>
        </p:nvSpPr>
        <p:spPr>
          <a:xfrm>
            <a:off x="14789328" y="41030341"/>
            <a:ext cx="14817264" cy="1184829"/>
          </a:xfrm>
          <a:prstGeom prst="rect">
            <a:avLst/>
          </a:prstGeom>
          <a:noFill/>
        </p:spPr>
        <p:txBody>
          <a:bodyPr wrap="square" lIns="184550" tIns="92274" rIns="184550" bIns="92274" rtlCol="0">
            <a:spAutoFit/>
          </a:bodyPr>
          <a:lstStyle/>
          <a:p>
            <a:pPr marL="352424" indent="-352424">
              <a:buClr>
                <a:srgbClr val="C00000"/>
              </a:buClr>
              <a:buFont typeface="Arial" pitchFamily="34" charset="0"/>
              <a:buChar char="•"/>
              <a:tabLst>
                <a:tab pos="922713" algn="l"/>
              </a:tabLst>
            </a:pPr>
            <a:r>
              <a:rPr lang="en-US" sz="3244" dirty="0">
                <a:latin typeface="Arial"/>
                <a:cs typeface="Arial"/>
              </a:rPr>
              <a:t>Contact Carlos Alfaro for further information.  Contact by email at </a:t>
            </a:r>
            <a:r>
              <a:rPr lang="en-US" sz="3244" dirty="0">
                <a:latin typeface="Arial"/>
                <a:cs typeface="Arial"/>
                <a:hlinkClick r:id="rId3"/>
              </a:rPr>
              <a:t>alfaroqu@musc.edu</a:t>
            </a:r>
            <a:r>
              <a:rPr lang="en-US" sz="3244" dirty="0">
                <a:latin typeface="Arial"/>
                <a:cs typeface="Arial"/>
              </a:rPr>
              <a:t> or by phone at 803-404-4585</a:t>
            </a:r>
          </a:p>
        </p:txBody>
      </p:sp>
      <p:sp>
        <p:nvSpPr>
          <p:cNvPr id="17" name="TextBox 16"/>
          <p:cNvSpPr txBox="1"/>
          <p:nvPr/>
        </p:nvSpPr>
        <p:spPr>
          <a:xfrm>
            <a:off x="666258" y="4025135"/>
            <a:ext cx="13446272" cy="925142"/>
          </a:xfrm>
          <a:prstGeom prst="rect">
            <a:avLst/>
          </a:prstGeom>
          <a:solidFill>
            <a:schemeClr val="tx2"/>
          </a:solidFill>
        </p:spPr>
        <p:txBody>
          <a:bodyPr wrap="square" lIns="184550" tIns="92274" rIns="184550" bIns="92274" rtlCol="0">
            <a:spAutoFit/>
          </a:bodyPr>
          <a:lstStyle/>
          <a:p>
            <a:pPr algn="ctr"/>
            <a:r>
              <a:rPr lang="en-US" sz="4801" b="1" cap="small" dirty="0">
                <a:solidFill>
                  <a:srgbClr val="FFFFFF"/>
                </a:solidFill>
                <a:latin typeface="Arial" panose="020B0604020202020204" pitchFamily="34" charset="0"/>
                <a:cs typeface="Arial" panose="020B0604020202020204" pitchFamily="34" charset="0"/>
              </a:rPr>
              <a:t>Abstract</a:t>
            </a:r>
          </a:p>
        </p:txBody>
      </p:sp>
      <p:sp>
        <p:nvSpPr>
          <p:cNvPr id="19" name="TextBox 18"/>
          <p:cNvSpPr txBox="1"/>
          <p:nvPr/>
        </p:nvSpPr>
        <p:spPr>
          <a:xfrm>
            <a:off x="666258" y="25493577"/>
            <a:ext cx="13446272" cy="1663934"/>
          </a:xfrm>
          <a:prstGeom prst="rect">
            <a:avLst/>
          </a:prstGeom>
          <a:solidFill>
            <a:schemeClr val="tx2"/>
          </a:solidFill>
          <a:ln w="38100">
            <a:noFill/>
          </a:ln>
        </p:spPr>
        <p:txBody>
          <a:bodyPr wrap="square" lIns="184550" tIns="92274" rIns="184550" bIns="92274" rtlCol="0">
            <a:spAutoFit/>
          </a:bodyPr>
          <a:lstStyle/>
          <a:p>
            <a:pPr algn="ctr"/>
            <a:r>
              <a:rPr lang="en-US" sz="4800" b="1" cap="small" dirty="0">
                <a:solidFill>
                  <a:srgbClr val="FFFFFF"/>
                </a:solidFill>
                <a:latin typeface="Arial" panose="020B0604020202020204" pitchFamily="34" charset="0"/>
                <a:cs typeface="Arial" panose="020B0604020202020204" pitchFamily="34" charset="0"/>
              </a:rPr>
              <a:t>Characterization of cd15</a:t>
            </a:r>
            <a:r>
              <a:rPr lang="en-US" sz="4800" dirty="0">
                <a:solidFill>
                  <a:schemeClr val="bg1"/>
                </a:solidFill>
                <a:latin typeface="Arial" panose="020B0604020202020204" pitchFamily="34" charset="0"/>
                <a:cs typeface="Arial" panose="020B0604020202020204" pitchFamily="34" charset="0"/>
              </a:rPr>
              <a:t>⁺</a:t>
            </a:r>
            <a:r>
              <a:rPr lang="en-US" sz="4800" b="1" cap="small" dirty="0">
                <a:solidFill>
                  <a:srgbClr val="FFFFFF"/>
                </a:solidFill>
                <a:latin typeface="Arial" panose="020B0604020202020204" pitchFamily="34" charset="0"/>
                <a:cs typeface="Arial" panose="020B0604020202020204" pitchFamily="34" charset="0"/>
              </a:rPr>
              <a:t> cells in patient samples</a:t>
            </a:r>
          </a:p>
        </p:txBody>
      </p:sp>
      <p:sp>
        <p:nvSpPr>
          <p:cNvPr id="20" name="TextBox 19"/>
          <p:cNvSpPr txBox="1"/>
          <p:nvPr/>
        </p:nvSpPr>
        <p:spPr>
          <a:xfrm>
            <a:off x="14609371" y="22076867"/>
            <a:ext cx="14714130" cy="925142"/>
          </a:xfrm>
          <a:prstGeom prst="rect">
            <a:avLst/>
          </a:prstGeom>
          <a:solidFill>
            <a:schemeClr val="tx2"/>
          </a:solidFill>
          <a:ln w="38100">
            <a:noFill/>
          </a:ln>
        </p:spPr>
        <p:txBody>
          <a:bodyPr wrap="square" lIns="184550" tIns="92274" rIns="184550" bIns="92274" rtlCol="0">
            <a:spAutoFit/>
          </a:bodyPr>
          <a:lstStyle/>
          <a:p>
            <a:pPr algn="ctr"/>
            <a:r>
              <a:rPr lang="en-US" sz="4801" b="1" cap="small" dirty="0">
                <a:solidFill>
                  <a:srgbClr val="FFFFFF"/>
                </a:solidFill>
                <a:latin typeface="Corbel" pitchFamily="34" charset="0"/>
              </a:rPr>
              <a:t>Discussion</a:t>
            </a:r>
          </a:p>
        </p:txBody>
      </p:sp>
      <p:sp>
        <p:nvSpPr>
          <p:cNvPr id="22" name="TextBox 21"/>
          <p:cNvSpPr txBox="1"/>
          <p:nvPr/>
        </p:nvSpPr>
        <p:spPr>
          <a:xfrm>
            <a:off x="14530859" y="30576044"/>
            <a:ext cx="14764534" cy="925142"/>
          </a:xfrm>
          <a:prstGeom prst="rect">
            <a:avLst/>
          </a:prstGeom>
          <a:solidFill>
            <a:schemeClr val="tx2"/>
          </a:solidFill>
          <a:ln w="38100">
            <a:noFill/>
          </a:ln>
        </p:spPr>
        <p:txBody>
          <a:bodyPr wrap="square" lIns="184550" tIns="92274" rIns="184550" bIns="92274" rtlCol="0">
            <a:spAutoFit/>
          </a:bodyPr>
          <a:lstStyle/>
          <a:p>
            <a:pPr algn="ctr"/>
            <a:r>
              <a:rPr lang="en-US" sz="4801" b="1" cap="small" dirty="0">
                <a:solidFill>
                  <a:srgbClr val="FFFFFF"/>
                </a:solidFill>
                <a:latin typeface="Corbel" pitchFamily="34" charset="0"/>
              </a:rPr>
              <a:t>Conclusions</a:t>
            </a:r>
          </a:p>
        </p:txBody>
      </p:sp>
      <p:sp>
        <p:nvSpPr>
          <p:cNvPr id="25" name="TextBox 24"/>
          <p:cNvSpPr txBox="1"/>
          <p:nvPr/>
        </p:nvSpPr>
        <p:spPr>
          <a:xfrm>
            <a:off x="14586095" y="36036863"/>
            <a:ext cx="14820836" cy="945626"/>
          </a:xfrm>
          <a:prstGeom prst="rect">
            <a:avLst/>
          </a:prstGeom>
          <a:solidFill>
            <a:schemeClr val="tx2"/>
          </a:solidFill>
          <a:ln w="38100">
            <a:noFill/>
          </a:ln>
        </p:spPr>
        <p:txBody>
          <a:bodyPr wrap="square" lIns="184550" tIns="92274" rIns="184550" bIns="92274" rtlCol="0">
            <a:spAutoFit/>
          </a:bodyPr>
          <a:lstStyle/>
          <a:p>
            <a:pPr algn="ctr"/>
            <a:r>
              <a:rPr lang="en-US" sz="4801" b="1" cap="small" dirty="0">
                <a:solidFill>
                  <a:srgbClr val="FFFFFF"/>
                </a:solidFill>
                <a:latin typeface="Corbel" pitchFamily="34" charset="0"/>
              </a:rPr>
              <a:t>Future Directions</a:t>
            </a:r>
          </a:p>
        </p:txBody>
      </p:sp>
      <p:sp>
        <p:nvSpPr>
          <p:cNvPr id="26" name="TextBox 25"/>
          <p:cNvSpPr txBox="1"/>
          <p:nvPr/>
        </p:nvSpPr>
        <p:spPr>
          <a:xfrm>
            <a:off x="14612289" y="39938623"/>
            <a:ext cx="14958123" cy="925142"/>
          </a:xfrm>
          <a:prstGeom prst="rect">
            <a:avLst/>
          </a:prstGeom>
          <a:solidFill>
            <a:schemeClr val="tx2"/>
          </a:solidFill>
          <a:ln w="38100">
            <a:noFill/>
          </a:ln>
        </p:spPr>
        <p:txBody>
          <a:bodyPr wrap="square" lIns="184550" tIns="92274" rIns="184550" bIns="92274" rtlCol="0">
            <a:spAutoFit/>
          </a:bodyPr>
          <a:lstStyle/>
          <a:p>
            <a:pPr algn="ctr"/>
            <a:r>
              <a:rPr lang="en-US" sz="4801" b="1" cap="small" dirty="0">
                <a:solidFill>
                  <a:srgbClr val="FFFFFF"/>
                </a:solidFill>
                <a:latin typeface="Corbel" pitchFamily="34" charset="0"/>
              </a:rPr>
              <a:t>Contact Information</a:t>
            </a:r>
          </a:p>
        </p:txBody>
      </p:sp>
      <p:sp>
        <p:nvSpPr>
          <p:cNvPr id="27" name="TextBox 26"/>
          <p:cNvSpPr txBox="1"/>
          <p:nvPr/>
        </p:nvSpPr>
        <p:spPr>
          <a:xfrm>
            <a:off x="14789328" y="4024337"/>
            <a:ext cx="14980745" cy="1294346"/>
          </a:xfrm>
          <a:prstGeom prst="rect">
            <a:avLst/>
          </a:prstGeom>
          <a:solidFill>
            <a:schemeClr val="tx2"/>
          </a:solidFill>
          <a:ln w="38100">
            <a:noFill/>
          </a:ln>
        </p:spPr>
        <p:txBody>
          <a:bodyPr wrap="square" lIns="184550" tIns="92274" rIns="184550" bIns="92274" rtlCol="0">
            <a:spAutoFit/>
          </a:bodyPr>
          <a:lstStyle/>
          <a:p>
            <a:pPr algn="ctr"/>
            <a:r>
              <a:rPr lang="en-US" sz="3600" b="1" cap="small" dirty="0">
                <a:solidFill>
                  <a:srgbClr val="FFFFFF"/>
                </a:solidFill>
                <a:latin typeface="Arial" panose="020B0604020202020204" pitchFamily="34" charset="0"/>
                <a:cs typeface="Arial" panose="020B0604020202020204" pitchFamily="34" charset="0"/>
              </a:rPr>
              <a:t>CD15</a:t>
            </a:r>
            <a:r>
              <a:rPr lang="en-US" sz="3600" b="1" dirty="0">
                <a:solidFill>
                  <a:schemeClr val="bg1"/>
                </a:solidFill>
                <a:latin typeface="Arial" panose="020B0604020202020204" pitchFamily="34" charset="0"/>
                <a:cs typeface="Arial" panose="020B0604020202020204" pitchFamily="34" charset="0"/>
              </a:rPr>
              <a:t>⁺ CELLS DEFINE A MITOTICALLY ACTIVE, MULTIPOTENT STATE</a:t>
            </a:r>
            <a:endParaRPr lang="en-US" sz="3600" b="1" cap="small" dirty="0">
              <a:solidFill>
                <a:srgbClr val="FFFFFF"/>
              </a:solidFill>
              <a:latin typeface="Arial" panose="020B0604020202020204" pitchFamily="34" charset="0"/>
              <a:cs typeface="Arial" panose="020B0604020202020204" pitchFamily="34" charset="0"/>
            </a:endParaRPr>
          </a:p>
        </p:txBody>
      </p:sp>
      <p:sp>
        <p:nvSpPr>
          <p:cNvPr id="28" name="TextBox 27"/>
          <p:cNvSpPr txBox="1"/>
          <p:nvPr/>
        </p:nvSpPr>
        <p:spPr>
          <a:xfrm>
            <a:off x="2640643" y="96044"/>
            <a:ext cx="22558824" cy="3479559"/>
          </a:xfrm>
          <a:prstGeom prst="rect">
            <a:avLst/>
          </a:prstGeom>
          <a:noFill/>
          <a:ln w="38100">
            <a:noFill/>
          </a:ln>
        </p:spPr>
        <p:txBody>
          <a:bodyPr wrap="square" lIns="1660950" tIns="92274" rIns="184550" bIns="92274" rtlCol="0">
            <a:spAutoFit/>
          </a:bodyPr>
          <a:lstStyle/>
          <a:p>
            <a:pPr algn="ctr"/>
            <a:r>
              <a:rPr lang="en-US" sz="5400" dirty="0">
                <a:solidFill>
                  <a:schemeClr val="bg1"/>
                </a:solidFill>
                <a:latin typeface="Arial" panose="020B0604020202020204" pitchFamily="34" charset="0"/>
                <a:cs typeface="Arial" panose="020B0604020202020204" pitchFamily="34" charset="0"/>
              </a:rPr>
              <a:t>Transcriptional footprint of CD15</a:t>
            </a:r>
            <a:r>
              <a:rPr lang="en-US" sz="5400" baseline="30000" dirty="0">
                <a:solidFill>
                  <a:schemeClr val="bg1"/>
                </a:solidFill>
                <a:latin typeface="Arial" panose="020B0604020202020204" pitchFamily="34" charset="0"/>
                <a:cs typeface="Arial" panose="020B0604020202020204" pitchFamily="34" charset="0"/>
              </a:rPr>
              <a:t>+</a:t>
            </a:r>
            <a:r>
              <a:rPr lang="en-US" sz="5400" dirty="0">
                <a:solidFill>
                  <a:schemeClr val="bg1"/>
                </a:solidFill>
                <a:latin typeface="Arial" panose="020B0604020202020204" pitchFamily="34" charset="0"/>
                <a:cs typeface="Arial" panose="020B0604020202020204" pitchFamily="34" charset="0"/>
              </a:rPr>
              <a:t> medulloblastoma cells reveals a mitotic and multipotent phenotype.</a:t>
            </a:r>
          </a:p>
          <a:p>
            <a:pPr marL="922713">
              <a:spcBef>
                <a:spcPts val="600"/>
              </a:spcBef>
            </a:pPr>
            <a:r>
              <a:rPr lang="en-US" sz="3200" u="sng" dirty="0">
                <a:solidFill>
                  <a:schemeClr val="bg1"/>
                </a:solidFill>
                <a:latin typeface="Arial" panose="020B0604020202020204" pitchFamily="34" charset="0"/>
                <a:cs typeface="Arial" panose="020B0604020202020204" pitchFamily="34" charset="0"/>
              </a:rPr>
              <a:t>Carlos Alfaro-Quinde</a:t>
            </a:r>
            <a:r>
              <a:rPr lang="en-US" sz="3200" u="sng" baseline="30000" dirty="0">
                <a:solidFill>
                  <a:schemeClr val="bg1"/>
                </a:solidFill>
                <a:latin typeface="Arial" panose="020B0604020202020204" pitchFamily="34" charset="0"/>
                <a:cs typeface="Arial" panose="020B0604020202020204" pitchFamily="34" charset="0"/>
              </a:rPr>
              <a:t>1</a:t>
            </a:r>
            <a:r>
              <a:rPr lang="en-US" sz="3200" dirty="0">
                <a:solidFill>
                  <a:schemeClr val="bg1"/>
                </a:solidFill>
                <a:latin typeface="Arial" panose="020B0604020202020204" pitchFamily="34" charset="0"/>
                <a:cs typeface="Arial" panose="020B0604020202020204" pitchFamily="34" charset="0"/>
              </a:rPr>
              <a:t>, Pritika Shahani</a:t>
            </a:r>
            <a:r>
              <a:rPr lang="en-US" sz="3200" baseline="30000" dirty="0">
                <a:solidFill>
                  <a:schemeClr val="bg1"/>
                </a:solidFill>
                <a:latin typeface="Arial" panose="020B0604020202020204" pitchFamily="34" charset="0"/>
                <a:cs typeface="Arial" panose="020B0604020202020204" pitchFamily="34" charset="0"/>
              </a:rPr>
              <a:t>1</a:t>
            </a:r>
            <a:r>
              <a:rPr lang="en-US" sz="3200" dirty="0">
                <a:solidFill>
                  <a:schemeClr val="bg1"/>
                </a:solidFill>
                <a:latin typeface="Arial" panose="020B0604020202020204" pitchFamily="34" charset="0"/>
                <a:cs typeface="Arial" panose="020B0604020202020204" pitchFamily="34" charset="0"/>
              </a:rPr>
              <a:t>, Valentin Kliebe</a:t>
            </a:r>
            <a:r>
              <a:rPr lang="en-US" sz="3200" baseline="30000" dirty="0">
                <a:solidFill>
                  <a:schemeClr val="bg1"/>
                </a:solidFill>
                <a:latin typeface="Arial" panose="020B0604020202020204" pitchFamily="34" charset="0"/>
                <a:cs typeface="Arial" panose="020B0604020202020204" pitchFamily="34" charset="0"/>
              </a:rPr>
              <a:t>1</a:t>
            </a:r>
            <a:r>
              <a:rPr lang="en-US" sz="3200" dirty="0">
                <a:solidFill>
                  <a:schemeClr val="bg1"/>
                </a:solidFill>
                <a:latin typeface="Arial" panose="020B0604020202020204" pitchFamily="34" charset="0"/>
                <a:cs typeface="Arial" panose="020B0604020202020204" pitchFamily="34" charset="0"/>
              </a:rPr>
              <a:t>, April D. Salvador</a:t>
            </a:r>
            <a:r>
              <a:rPr lang="en-US" sz="3200" baseline="30000" dirty="0">
                <a:solidFill>
                  <a:schemeClr val="bg1"/>
                </a:solidFill>
                <a:latin typeface="Arial" panose="020B0604020202020204" pitchFamily="34" charset="0"/>
                <a:cs typeface="Arial" panose="020B0604020202020204" pitchFamily="34" charset="0"/>
              </a:rPr>
              <a:t>1</a:t>
            </a:r>
            <a:r>
              <a:rPr lang="en-US" sz="3200" dirty="0">
                <a:solidFill>
                  <a:schemeClr val="bg1"/>
                </a:solidFill>
                <a:latin typeface="Arial" panose="020B0604020202020204" pitchFamily="34" charset="0"/>
                <a:cs typeface="Arial" panose="020B0604020202020204" pitchFamily="34" charset="0"/>
              </a:rPr>
              <a:t>, Jezabel Rodriguez-Blanco</a:t>
            </a:r>
            <a:r>
              <a:rPr lang="en-US" sz="3200" baseline="30000" dirty="0">
                <a:solidFill>
                  <a:schemeClr val="bg1"/>
                </a:solidFill>
                <a:latin typeface="Arial" panose="020B0604020202020204" pitchFamily="34" charset="0"/>
                <a:cs typeface="Arial" panose="020B0604020202020204" pitchFamily="34" charset="0"/>
              </a:rPr>
              <a:t>1,2</a:t>
            </a:r>
            <a:r>
              <a:rPr lang="en-US" sz="3200" dirty="0">
                <a:solidFill>
                  <a:schemeClr val="bg1"/>
                </a:solidFill>
                <a:latin typeface="Arial" panose="020B0604020202020204" pitchFamily="34" charset="0"/>
                <a:cs typeface="Arial" panose="020B0604020202020204" pitchFamily="34" charset="0"/>
              </a:rPr>
              <a:t>.</a:t>
            </a:r>
          </a:p>
          <a:p>
            <a:pPr marL="922713">
              <a:spcBef>
                <a:spcPts val="600"/>
              </a:spcBef>
            </a:pPr>
            <a:r>
              <a:rPr lang="en-US" sz="3000" i="1" baseline="30000" dirty="0">
                <a:solidFill>
                  <a:schemeClr val="lt1"/>
                </a:solidFill>
                <a:latin typeface="Arial" panose="020B0604020202020204" pitchFamily="34" charset="0"/>
                <a:cs typeface="Arial" panose="020B0604020202020204" pitchFamily="34" charset="0"/>
              </a:rPr>
              <a:t>1 </a:t>
            </a:r>
            <a:r>
              <a:rPr lang="en-US" sz="3000" i="1" dirty="0">
                <a:solidFill>
                  <a:schemeClr val="lt1"/>
                </a:solidFill>
                <a:latin typeface="Arial" panose="020B0604020202020204" pitchFamily="34" charset="0"/>
                <a:cs typeface="Arial" panose="020B0604020202020204" pitchFamily="34" charset="0"/>
              </a:rPr>
              <a:t>Department of Pediatrics, Medical University of South Carolina, Charleston, SC.</a:t>
            </a:r>
          </a:p>
          <a:p>
            <a:pPr marL="922713"/>
            <a:r>
              <a:rPr lang="en-US" sz="3000" i="1" baseline="30000" dirty="0">
                <a:solidFill>
                  <a:schemeClr val="lt1"/>
                </a:solidFill>
                <a:latin typeface="Arial" panose="020B0604020202020204" pitchFamily="34" charset="0"/>
                <a:cs typeface="Arial" panose="020B0604020202020204" pitchFamily="34" charset="0"/>
              </a:rPr>
              <a:t>2</a:t>
            </a:r>
            <a:r>
              <a:rPr lang="en-US" sz="3000" i="1" dirty="0">
                <a:solidFill>
                  <a:schemeClr val="lt1"/>
                </a:solidFill>
                <a:latin typeface="Arial" panose="020B0604020202020204" pitchFamily="34" charset="0"/>
                <a:cs typeface="Arial" panose="020B0604020202020204" pitchFamily="34" charset="0"/>
              </a:rPr>
              <a:t> Hollings Cancer Center, Medical University of South Carolina, Charleston, SC.</a:t>
            </a:r>
            <a:endParaRPr lang="en-US" sz="3000" baseline="300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118C0861-7AF5-1CD6-12AB-FF86A46397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2850" y="27487881"/>
            <a:ext cx="6546544" cy="5455453"/>
          </a:xfrm>
          <a:prstGeom prst="rect">
            <a:avLst/>
          </a:prstGeom>
        </p:spPr>
      </p:pic>
      <p:sp>
        <p:nvSpPr>
          <p:cNvPr id="4" name="TextBox 3">
            <a:extLst>
              <a:ext uri="{FF2B5EF4-FFF2-40B4-BE49-F238E27FC236}">
                <a16:creationId xmlns:a16="http://schemas.microsoft.com/office/drawing/2014/main" id="{45B998DE-9A4E-F06A-CABF-E9EDAE1DD55B}"/>
              </a:ext>
            </a:extLst>
          </p:cNvPr>
          <p:cNvSpPr txBox="1"/>
          <p:nvPr/>
        </p:nvSpPr>
        <p:spPr>
          <a:xfrm>
            <a:off x="3158325" y="31063843"/>
            <a:ext cx="1371600"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SHH</a:t>
            </a:r>
          </a:p>
        </p:txBody>
      </p:sp>
      <p:sp>
        <p:nvSpPr>
          <p:cNvPr id="5" name="TextBox 4">
            <a:extLst>
              <a:ext uri="{FF2B5EF4-FFF2-40B4-BE49-F238E27FC236}">
                <a16:creationId xmlns:a16="http://schemas.microsoft.com/office/drawing/2014/main" id="{BE597035-0AFD-61CB-3EDB-AB0886107AD8}"/>
              </a:ext>
            </a:extLst>
          </p:cNvPr>
          <p:cNvSpPr txBox="1"/>
          <p:nvPr/>
        </p:nvSpPr>
        <p:spPr>
          <a:xfrm>
            <a:off x="2031206" y="29227512"/>
            <a:ext cx="1371600"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GP4</a:t>
            </a:r>
          </a:p>
        </p:txBody>
      </p:sp>
      <p:sp>
        <p:nvSpPr>
          <p:cNvPr id="6" name="TextBox 5">
            <a:extLst>
              <a:ext uri="{FF2B5EF4-FFF2-40B4-BE49-F238E27FC236}">
                <a16:creationId xmlns:a16="http://schemas.microsoft.com/office/drawing/2014/main" id="{7E4590C6-B3B8-E806-347E-D7C1ED6E405C}"/>
              </a:ext>
            </a:extLst>
          </p:cNvPr>
          <p:cNvSpPr txBox="1"/>
          <p:nvPr/>
        </p:nvSpPr>
        <p:spPr>
          <a:xfrm>
            <a:off x="4591162" y="29634629"/>
            <a:ext cx="1371600"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GP3</a:t>
            </a:r>
          </a:p>
        </p:txBody>
      </p:sp>
      <p:sp>
        <p:nvSpPr>
          <p:cNvPr id="7" name="TextBox 6">
            <a:extLst>
              <a:ext uri="{FF2B5EF4-FFF2-40B4-BE49-F238E27FC236}">
                <a16:creationId xmlns:a16="http://schemas.microsoft.com/office/drawing/2014/main" id="{5BD51E18-97F6-8D05-1144-AC3569D478EF}"/>
              </a:ext>
            </a:extLst>
          </p:cNvPr>
          <p:cNvSpPr txBox="1"/>
          <p:nvPr/>
        </p:nvSpPr>
        <p:spPr>
          <a:xfrm>
            <a:off x="5614009" y="31319332"/>
            <a:ext cx="1371600"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GP3/4</a:t>
            </a:r>
          </a:p>
        </p:txBody>
      </p:sp>
      <p:sp>
        <p:nvSpPr>
          <p:cNvPr id="8" name="TextBox 7">
            <a:extLst>
              <a:ext uri="{FF2B5EF4-FFF2-40B4-BE49-F238E27FC236}">
                <a16:creationId xmlns:a16="http://schemas.microsoft.com/office/drawing/2014/main" id="{D344F783-F6AA-723C-9217-46022F4DAD47}"/>
              </a:ext>
            </a:extLst>
          </p:cNvPr>
          <p:cNvSpPr txBox="1"/>
          <p:nvPr/>
        </p:nvSpPr>
        <p:spPr>
          <a:xfrm>
            <a:off x="1040447" y="30401055"/>
            <a:ext cx="1371600"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WNT</a:t>
            </a:r>
          </a:p>
        </p:txBody>
      </p:sp>
      <p:cxnSp>
        <p:nvCxnSpPr>
          <p:cNvPr id="10" name="Straight Arrow Connector 9">
            <a:extLst>
              <a:ext uri="{FF2B5EF4-FFF2-40B4-BE49-F238E27FC236}">
                <a16:creationId xmlns:a16="http://schemas.microsoft.com/office/drawing/2014/main" id="{F5A052C1-8762-0368-08D1-D47F084E5F20}"/>
              </a:ext>
            </a:extLst>
          </p:cNvPr>
          <p:cNvCxnSpPr/>
          <p:nvPr/>
        </p:nvCxnSpPr>
        <p:spPr>
          <a:xfrm flipV="1">
            <a:off x="1101835" y="31960594"/>
            <a:ext cx="0" cy="6858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9C67BA7C-0141-F41D-37F8-62015B60F387}"/>
              </a:ext>
            </a:extLst>
          </p:cNvPr>
          <p:cNvCxnSpPr>
            <a:cxnSpLocks/>
          </p:cNvCxnSpPr>
          <p:nvPr/>
        </p:nvCxnSpPr>
        <p:spPr>
          <a:xfrm>
            <a:off x="1101835" y="32655728"/>
            <a:ext cx="85211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C09FB18A-6F04-6A72-8A32-06767660A9EF}"/>
              </a:ext>
            </a:extLst>
          </p:cNvPr>
          <p:cNvSpPr txBox="1"/>
          <p:nvPr/>
        </p:nvSpPr>
        <p:spPr>
          <a:xfrm>
            <a:off x="1011687" y="32655728"/>
            <a:ext cx="1371600" cy="307777"/>
          </a:xfrm>
          <a:prstGeom prst="rect">
            <a:avLst/>
          </a:prstGeom>
          <a:noFill/>
        </p:spPr>
        <p:txBody>
          <a:bodyPr wrap="square" rtlCol="0">
            <a:spAutoFit/>
          </a:bodyPr>
          <a:lstStyle/>
          <a:p>
            <a:r>
              <a:rPr lang="en-US" sz="1400" b="1" dirty="0"/>
              <a:t>UMAP 1</a:t>
            </a:r>
          </a:p>
        </p:txBody>
      </p:sp>
      <p:sp>
        <p:nvSpPr>
          <p:cNvPr id="29" name="TextBox 28">
            <a:extLst>
              <a:ext uri="{FF2B5EF4-FFF2-40B4-BE49-F238E27FC236}">
                <a16:creationId xmlns:a16="http://schemas.microsoft.com/office/drawing/2014/main" id="{0F9AA63F-042E-0F33-696E-65EDD6E14C7E}"/>
              </a:ext>
            </a:extLst>
          </p:cNvPr>
          <p:cNvSpPr txBox="1"/>
          <p:nvPr/>
        </p:nvSpPr>
        <p:spPr>
          <a:xfrm rot="16200000">
            <a:off x="230944" y="31969927"/>
            <a:ext cx="1371600" cy="307777"/>
          </a:xfrm>
          <a:prstGeom prst="rect">
            <a:avLst/>
          </a:prstGeom>
          <a:noFill/>
        </p:spPr>
        <p:txBody>
          <a:bodyPr wrap="square" rtlCol="0">
            <a:spAutoFit/>
          </a:bodyPr>
          <a:lstStyle/>
          <a:p>
            <a:r>
              <a:rPr lang="en-US" sz="1400" b="1" dirty="0"/>
              <a:t>UMAP 2</a:t>
            </a:r>
          </a:p>
        </p:txBody>
      </p:sp>
      <p:sp>
        <p:nvSpPr>
          <p:cNvPr id="30" name="TextBox 29">
            <a:extLst>
              <a:ext uri="{FF2B5EF4-FFF2-40B4-BE49-F238E27FC236}">
                <a16:creationId xmlns:a16="http://schemas.microsoft.com/office/drawing/2014/main" id="{4F4D8949-6B5A-3132-7758-13B9711DF699}"/>
              </a:ext>
            </a:extLst>
          </p:cNvPr>
          <p:cNvSpPr txBox="1"/>
          <p:nvPr/>
        </p:nvSpPr>
        <p:spPr>
          <a:xfrm>
            <a:off x="1101835" y="32031833"/>
            <a:ext cx="1371600" cy="523220"/>
          </a:xfrm>
          <a:prstGeom prst="rect">
            <a:avLst/>
          </a:prstGeom>
          <a:noFill/>
        </p:spPr>
        <p:txBody>
          <a:bodyPr wrap="square" rtlCol="0">
            <a:spAutoFit/>
          </a:bodyPr>
          <a:lstStyle/>
          <a:p>
            <a:r>
              <a:rPr lang="en-US" sz="1400" b="1" dirty="0"/>
              <a:t>n = 28</a:t>
            </a:r>
          </a:p>
          <a:p>
            <a:r>
              <a:rPr lang="en-US" sz="1400" b="1" dirty="0"/>
              <a:t>39946 cells</a:t>
            </a:r>
          </a:p>
        </p:txBody>
      </p:sp>
      <p:pic>
        <p:nvPicPr>
          <p:cNvPr id="41" name="Picture 40">
            <a:extLst>
              <a:ext uri="{FF2B5EF4-FFF2-40B4-BE49-F238E27FC236}">
                <a16:creationId xmlns:a16="http://schemas.microsoft.com/office/drawing/2014/main" id="{F7E3D432-2677-CE9F-22AB-6D41623ACCC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3526" y="33691256"/>
            <a:ext cx="4170465" cy="3475387"/>
          </a:xfrm>
          <a:prstGeom prst="rect">
            <a:avLst/>
          </a:prstGeom>
        </p:spPr>
      </p:pic>
      <p:pic>
        <p:nvPicPr>
          <p:cNvPr id="43" name="Picture 42">
            <a:extLst>
              <a:ext uri="{FF2B5EF4-FFF2-40B4-BE49-F238E27FC236}">
                <a16:creationId xmlns:a16="http://schemas.microsoft.com/office/drawing/2014/main" id="{2343B124-165B-61D0-16B1-FF27052E392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85557" y="37129244"/>
            <a:ext cx="4170465" cy="3475387"/>
          </a:xfrm>
          <a:prstGeom prst="rect">
            <a:avLst/>
          </a:prstGeom>
        </p:spPr>
      </p:pic>
      <p:pic>
        <p:nvPicPr>
          <p:cNvPr id="45" name="Picture 44">
            <a:extLst>
              <a:ext uri="{FF2B5EF4-FFF2-40B4-BE49-F238E27FC236}">
                <a16:creationId xmlns:a16="http://schemas.microsoft.com/office/drawing/2014/main" id="{3C842EC7-614A-F082-067C-89EED7C63AD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770230" y="37172764"/>
            <a:ext cx="4170464" cy="3475386"/>
          </a:xfrm>
          <a:prstGeom prst="rect">
            <a:avLst/>
          </a:prstGeom>
        </p:spPr>
      </p:pic>
      <p:pic>
        <p:nvPicPr>
          <p:cNvPr id="47" name="Picture 46">
            <a:extLst>
              <a:ext uri="{FF2B5EF4-FFF2-40B4-BE49-F238E27FC236}">
                <a16:creationId xmlns:a16="http://schemas.microsoft.com/office/drawing/2014/main" id="{CE762DC8-8E7C-26CF-6788-817CB5EE470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28341" y="33691256"/>
            <a:ext cx="4170465" cy="3475387"/>
          </a:xfrm>
          <a:prstGeom prst="rect">
            <a:avLst/>
          </a:prstGeom>
        </p:spPr>
      </p:pic>
      <p:pic>
        <p:nvPicPr>
          <p:cNvPr id="49" name="Picture 48">
            <a:extLst>
              <a:ext uri="{FF2B5EF4-FFF2-40B4-BE49-F238E27FC236}">
                <a16:creationId xmlns:a16="http://schemas.microsoft.com/office/drawing/2014/main" id="{56DA7940-0058-ADD8-61C1-225AC0F8EF7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28341" y="37163350"/>
            <a:ext cx="4170464" cy="3475386"/>
          </a:xfrm>
          <a:prstGeom prst="rect">
            <a:avLst/>
          </a:prstGeom>
        </p:spPr>
      </p:pic>
      <p:pic>
        <p:nvPicPr>
          <p:cNvPr id="51" name="Picture 50">
            <a:extLst>
              <a:ext uri="{FF2B5EF4-FFF2-40B4-BE49-F238E27FC236}">
                <a16:creationId xmlns:a16="http://schemas.microsoft.com/office/drawing/2014/main" id="{84ED6656-0178-E186-DC23-E88F82D4251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770231" y="33700669"/>
            <a:ext cx="4170465" cy="3475387"/>
          </a:xfrm>
          <a:prstGeom prst="rect">
            <a:avLst/>
          </a:prstGeom>
        </p:spPr>
      </p:pic>
      <p:pic>
        <p:nvPicPr>
          <p:cNvPr id="54" name="Picture 53">
            <a:extLst>
              <a:ext uri="{FF2B5EF4-FFF2-40B4-BE49-F238E27FC236}">
                <a16:creationId xmlns:a16="http://schemas.microsoft.com/office/drawing/2014/main" id="{2C735547-EF8D-43E0-DF92-ACEAC5ABB441}"/>
              </a:ext>
            </a:extLst>
          </p:cNvPr>
          <p:cNvPicPr>
            <a:picLocks noChangeAspect="1"/>
          </p:cNvPicPr>
          <p:nvPr/>
        </p:nvPicPr>
        <p:blipFill>
          <a:blip r:embed="rId11"/>
          <a:stretch>
            <a:fillRect/>
          </a:stretch>
        </p:blipFill>
        <p:spPr>
          <a:xfrm>
            <a:off x="7489775" y="27519197"/>
            <a:ext cx="2744900" cy="2599647"/>
          </a:xfrm>
          <a:prstGeom prst="rect">
            <a:avLst/>
          </a:prstGeom>
        </p:spPr>
      </p:pic>
      <p:sp>
        <p:nvSpPr>
          <p:cNvPr id="55" name="Rectangle 54">
            <a:extLst>
              <a:ext uri="{FF2B5EF4-FFF2-40B4-BE49-F238E27FC236}">
                <a16:creationId xmlns:a16="http://schemas.microsoft.com/office/drawing/2014/main" id="{272ED960-F867-5CC8-6A77-A0F191291C95}"/>
              </a:ext>
            </a:extLst>
          </p:cNvPr>
          <p:cNvSpPr/>
          <p:nvPr/>
        </p:nvSpPr>
        <p:spPr>
          <a:xfrm>
            <a:off x="873526" y="33700669"/>
            <a:ext cx="4170465" cy="6941361"/>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78853075-1302-81A8-A8AC-89869BD8971C}"/>
              </a:ext>
            </a:extLst>
          </p:cNvPr>
          <p:cNvSpPr/>
          <p:nvPr/>
        </p:nvSpPr>
        <p:spPr>
          <a:xfrm>
            <a:off x="5340371" y="33691256"/>
            <a:ext cx="4170465" cy="6941361"/>
          </a:xfrm>
          <a:prstGeom prst="rect">
            <a:avLst/>
          </a:prstGeom>
          <a:no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A7880649-4DCD-E665-C85A-695217965B21}"/>
              </a:ext>
            </a:extLst>
          </p:cNvPr>
          <p:cNvSpPr/>
          <p:nvPr/>
        </p:nvSpPr>
        <p:spPr>
          <a:xfrm>
            <a:off x="9749590" y="33700669"/>
            <a:ext cx="4170465" cy="6941361"/>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106790B1-6D12-12C2-AFD0-D9C84F173121}"/>
              </a:ext>
            </a:extLst>
          </p:cNvPr>
          <p:cNvSpPr txBox="1"/>
          <p:nvPr/>
        </p:nvSpPr>
        <p:spPr>
          <a:xfrm>
            <a:off x="2372303" y="33101774"/>
            <a:ext cx="1371600" cy="584775"/>
          </a:xfrm>
          <a:prstGeom prst="rect">
            <a:avLst/>
          </a:prstGeom>
          <a:noFill/>
        </p:spPr>
        <p:txBody>
          <a:bodyPr wrap="square" rtlCol="0">
            <a:spAutoFit/>
          </a:bodyPr>
          <a:lstStyle/>
          <a:p>
            <a:r>
              <a:rPr lang="en-US" sz="3200" dirty="0">
                <a:effectLst>
                  <a:outerShdw blurRad="38100" dist="38100" dir="2700000" algn="tl">
                    <a:srgbClr val="000000">
                      <a:alpha val="43137"/>
                    </a:srgbClr>
                  </a:outerShdw>
                </a:effectLst>
              </a:rPr>
              <a:t>SHH</a:t>
            </a:r>
          </a:p>
        </p:txBody>
      </p:sp>
      <p:sp>
        <p:nvSpPr>
          <p:cNvPr id="59" name="TextBox 58">
            <a:extLst>
              <a:ext uri="{FF2B5EF4-FFF2-40B4-BE49-F238E27FC236}">
                <a16:creationId xmlns:a16="http://schemas.microsoft.com/office/drawing/2014/main" id="{6CE843A6-A03E-C17F-9924-46B3E0957639}"/>
              </a:ext>
            </a:extLst>
          </p:cNvPr>
          <p:cNvSpPr txBox="1"/>
          <p:nvPr/>
        </p:nvSpPr>
        <p:spPr>
          <a:xfrm>
            <a:off x="6679406" y="33087096"/>
            <a:ext cx="1836830" cy="584775"/>
          </a:xfrm>
          <a:prstGeom prst="rect">
            <a:avLst/>
          </a:prstGeom>
          <a:noFill/>
        </p:spPr>
        <p:txBody>
          <a:bodyPr wrap="square" rtlCol="0">
            <a:spAutoFit/>
          </a:bodyPr>
          <a:lstStyle/>
          <a:p>
            <a:r>
              <a:rPr lang="en-US" sz="3200" dirty="0">
                <a:effectLst>
                  <a:outerShdw blurRad="38100" dist="38100" dir="2700000" algn="tl">
                    <a:srgbClr val="000000">
                      <a:alpha val="43137"/>
                    </a:srgbClr>
                  </a:outerShdw>
                </a:effectLst>
              </a:rPr>
              <a:t>Group 3</a:t>
            </a:r>
          </a:p>
        </p:txBody>
      </p:sp>
      <p:sp>
        <p:nvSpPr>
          <p:cNvPr id="60" name="TextBox 59">
            <a:extLst>
              <a:ext uri="{FF2B5EF4-FFF2-40B4-BE49-F238E27FC236}">
                <a16:creationId xmlns:a16="http://schemas.microsoft.com/office/drawing/2014/main" id="{B800BA6E-3939-9B21-690F-2F761B9577C0}"/>
              </a:ext>
            </a:extLst>
          </p:cNvPr>
          <p:cNvSpPr txBox="1"/>
          <p:nvPr/>
        </p:nvSpPr>
        <p:spPr>
          <a:xfrm>
            <a:off x="10937047" y="33078541"/>
            <a:ext cx="1836830" cy="584775"/>
          </a:xfrm>
          <a:prstGeom prst="rect">
            <a:avLst/>
          </a:prstGeom>
          <a:noFill/>
        </p:spPr>
        <p:txBody>
          <a:bodyPr wrap="square" rtlCol="0">
            <a:spAutoFit/>
          </a:bodyPr>
          <a:lstStyle/>
          <a:p>
            <a:r>
              <a:rPr lang="en-US" sz="3200" dirty="0">
                <a:effectLst>
                  <a:outerShdw blurRad="38100" dist="38100" dir="2700000" algn="tl">
                    <a:srgbClr val="000000">
                      <a:alpha val="43137"/>
                    </a:srgbClr>
                  </a:outerShdw>
                </a:effectLst>
              </a:rPr>
              <a:t>Group 4</a:t>
            </a:r>
          </a:p>
        </p:txBody>
      </p:sp>
      <p:cxnSp>
        <p:nvCxnSpPr>
          <p:cNvPr id="61" name="Straight Arrow Connector 60">
            <a:extLst>
              <a:ext uri="{FF2B5EF4-FFF2-40B4-BE49-F238E27FC236}">
                <a16:creationId xmlns:a16="http://schemas.microsoft.com/office/drawing/2014/main" id="{28F47587-0349-8B49-EB8B-94BA7849B39B}"/>
              </a:ext>
            </a:extLst>
          </p:cNvPr>
          <p:cNvCxnSpPr>
            <a:cxnSpLocks/>
          </p:cNvCxnSpPr>
          <p:nvPr/>
        </p:nvCxnSpPr>
        <p:spPr>
          <a:xfrm>
            <a:off x="1269206" y="37510244"/>
            <a:ext cx="258685" cy="150644"/>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64" name="Straight Arrow Connector 63">
            <a:extLst>
              <a:ext uri="{FF2B5EF4-FFF2-40B4-BE49-F238E27FC236}">
                <a16:creationId xmlns:a16="http://schemas.microsoft.com/office/drawing/2014/main" id="{F3658E0F-F5A2-8B43-D73C-ACDB0FB28175}"/>
              </a:ext>
            </a:extLst>
          </p:cNvPr>
          <p:cNvCxnSpPr>
            <a:cxnSpLocks/>
          </p:cNvCxnSpPr>
          <p:nvPr/>
        </p:nvCxnSpPr>
        <p:spPr>
          <a:xfrm flipH="1">
            <a:off x="9151414" y="39132074"/>
            <a:ext cx="153534" cy="296939"/>
          </a:xfrm>
          <a:prstGeom prst="straightConnector1">
            <a:avLst/>
          </a:prstGeom>
          <a:ln w="28575">
            <a:solidFill>
              <a:schemeClr val="accent1">
                <a:lumMod val="5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67" name="Straight Arrow Connector 66">
            <a:extLst>
              <a:ext uri="{FF2B5EF4-FFF2-40B4-BE49-F238E27FC236}">
                <a16:creationId xmlns:a16="http://schemas.microsoft.com/office/drawing/2014/main" id="{F3C083E4-08D6-2EB9-A965-F4A828C61FE3}"/>
              </a:ext>
            </a:extLst>
          </p:cNvPr>
          <p:cNvCxnSpPr>
            <a:cxnSpLocks/>
          </p:cNvCxnSpPr>
          <p:nvPr/>
        </p:nvCxnSpPr>
        <p:spPr>
          <a:xfrm flipH="1">
            <a:off x="12544063" y="37041707"/>
            <a:ext cx="153534" cy="296939"/>
          </a:xfrm>
          <a:prstGeom prst="straightConnector1">
            <a:avLst/>
          </a:prstGeom>
          <a:ln w="28575">
            <a:solidFill>
              <a:srgbClr val="7030A0"/>
            </a:solidFill>
            <a:tailEnd type="triangle"/>
          </a:ln>
        </p:spPr>
        <p:style>
          <a:lnRef idx="1">
            <a:schemeClr val="accent2"/>
          </a:lnRef>
          <a:fillRef idx="0">
            <a:schemeClr val="accent2"/>
          </a:fillRef>
          <a:effectRef idx="0">
            <a:schemeClr val="accent2"/>
          </a:effectRef>
          <a:fontRef idx="minor">
            <a:schemeClr val="tx1"/>
          </a:fontRef>
        </p:style>
      </p:cxnSp>
      <p:pic>
        <p:nvPicPr>
          <p:cNvPr id="69" name="Picture 68">
            <a:extLst>
              <a:ext uri="{FF2B5EF4-FFF2-40B4-BE49-F238E27FC236}">
                <a16:creationId xmlns:a16="http://schemas.microsoft.com/office/drawing/2014/main" id="{0EBBC612-5817-D792-4C1E-B4C5567A5FB1}"/>
              </a:ext>
            </a:extLst>
          </p:cNvPr>
          <p:cNvPicPr>
            <a:picLocks noChangeAspect="1"/>
          </p:cNvPicPr>
          <p:nvPr/>
        </p:nvPicPr>
        <p:blipFill>
          <a:blip r:embed="rId12"/>
          <a:stretch>
            <a:fillRect/>
          </a:stretch>
        </p:blipFill>
        <p:spPr>
          <a:xfrm>
            <a:off x="10327960" y="27505073"/>
            <a:ext cx="3654277" cy="2599647"/>
          </a:xfrm>
          <a:prstGeom prst="rect">
            <a:avLst/>
          </a:prstGeom>
        </p:spPr>
      </p:pic>
      <p:sp>
        <p:nvSpPr>
          <p:cNvPr id="70" name="TextBox 69">
            <a:extLst>
              <a:ext uri="{FF2B5EF4-FFF2-40B4-BE49-F238E27FC236}">
                <a16:creationId xmlns:a16="http://schemas.microsoft.com/office/drawing/2014/main" id="{6AF4CDDD-4CAB-59EC-F012-DD43FFC37CE9}"/>
              </a:ext>
            </a:extLst>
          </p:cNvPr>
          <p:cNvSpPr txBox="1"/>
          <p:nvPr/>
        </p:nvSpPr>
        <p:spPr>
          <a:xfrm>
            <a:off x="7413573" y="30300688"/>
            <a:ext cx="6546544" cy="2831544"/>
          </a:xfrm>
          <a:prstGeom prst="rect">
            <a:avLst/>
          </a:prstGeom>
          <a:noFill/>
        </p:spPr>
        <p:txBody>
          <a:bodyPr wrap="square" rtlCol="0">
            <a:spAutoFit/>
          </a:bodyPr>
          <a:lstStyle/>
          <a:p>
            <a:pPr marL="342900" indent="-342900" algn="just">
              <a:buAutoNum type="alphaUcPeriod"/>
            </a:pPr>
            <a:r>
              <a:rPr lang="en-US" sz="2000" dirty="0">
                <a:latin typeface="Arial" panose="020B0604020202020204" pitchFamily="34" charset="0"/>
                <a:cs typeface="Arial" panose="020B0604020202020204" pitchFamily="34" charset="0"/>
              </a:rPr>
              <a:t>Integrative analysis of 28 single-cell RNA-seq MB patient samples reveals a broad range of cellular states.</a:t>
            </a:r>
          </a:p>
          <a:p>
            <a:pPr marL="342900" indent="-342900" algn="just">
              <a:buAutoNum type="alphaUcPeriod"/>
            </a:pPr>
            <a:r>
              <a:rPr lang="en-US" sz="2000" dirty="0">
                <a:latin typeface="Arial" panose="020B0604020202020204" pitchFamily="34" charset="0"/>
                <a:cs typeface="Arial" panose="020B0604020202020204" pitchFamily="34" charset="0"/>
              </a:rPr>
              <a:t>Cells with </a:t>
            </a:r>
            <a:r>
              <a:rPr lang="en-US" sz="2000" i="1" dirty="0">
                <a:latin typeface="Arial" panose="020B0604020202020204" pitchFamily="34" charset="0"/>
                <a:cs typeface="Arial" panose="020B0604020202020204" pitchFamily="34" charset="0"/>
              </a:rPr>
              <a:t>AUCell</a:t>
            </a:r>
            <a:r>
              <a:rPr lang="en-US" sz="2000" dirty="0">
                <a:latin typeface="Arial" panose="020B0604020202020204" pitchFamily="34" charset="0"/>
                <a:cs typeface="Arial" panose="020B0604020202020204" pitchFamily="34" charset="0"/>
              </a:rPr>
              <a:t> scores &gt; 0.1 were classified as CD15⁺ signature–positive, yielding 1,043 cells.</a:t>
            </a:r>
          </a:p>
          <a:p>
            <a:pPr marL="342900" indent="-342900" algn="just">
              <a:buAutoNum type="alphaUcPeriod"/>
            </a:pPr>
            <a:r>
              <a:rPr lang="en-US" sz="2000" dirty="0">
                <a:latin typeface="Arial" panose="020B0604020202020204" pitchFamily="34" charset="0"/>
                <a:cs typeface="Arial" panose="020B0604020202020204" pitchFamily="34" charset="0"/>
              </a:rPr>
              <a:t>Cell Cycle analysis on the CD15⁺ cells indicates a predominant enrichment in the G2/M phase, consistent with highly mitotic/proliferative cells</a:t>
            </a:r>
            <a:r>
              <a:rPr lang="en-US" sz="1800" dirty="0">
                <a:latin typeface="Arial" panose="020B0604020202020204" pitchFamily="34" charset="0"/>
                <a:cs typeface="Arial" panose="020B0604020202020204" pitchFamily="34" charset="0"/>
              </a:rPr>
              <a:t>.</a:t>
            </a:r>
          </a:p>
          <a:p>
            <a:endParaRPr lang="en-US" sz="1800" dirty="0">
              <a:latin typeface="Arial" panose="020B0604020202020204" pitchFamily="34" charset="0"/>
              <a:cs typeface="Arial" panose="020B0604020202020204" pitchFamily="34" charset="0"/>
            </a:endParaRPr>
          </a:p>
        </p:txBody>
      </p:sp>
      <p:sp>
        <p:nvSpPr>
          <p:cNvPr id="71" name="TextBox 70">
            <a:extLst>
              <a:ext uri="{FF2B5EF4-FFF2-40B4-BE49-F238E27FC236}">
                <a16:creationId xmlns:a16="http://schemas.microsoft.com/office/drawing/2014/main" id="{6B04C510-2DAB-6338-4192-B0CC13FD94C0}"/>
              </a:ext>
            </a:extLst>
          </p:cNvPr>
          <p:cNvSpPr txBox="1"/>
          <p:nvPr/>
        </p:nvSpPr>
        <p:spPr>
          <a:xfrm>
            <a:off x="762854" y="27149326"/>
            <a:ext cx="506351" cy="430887"/>
          </a:xfrm>
          <a:prstGeom prst="rect">
            <a:avLst/>
          </a:prstGeom>
          <a:noFill/>
        </p:spPr>
        <p:txBody>
          <a:bodyPr wrap="square" rtlCol="0">
            <a:spAutoFit/>
          </a:bodyPr>
          <a:lstStyle/>
          <a:p>
            <a:r>
              <a:rPr lang="en-US" sz="2200" b="1" dirty="0">
                <a:latin typeface="Arial" panose="020B0604020202020204" pitchFamily="34" charset="0"/>
                <a:cs typeface="Arial" panose="020B0604020202020204" pitchFamily="34" charset="0"/>
              </a:rPr>
              <a:t>A</a:t>
            </a:r>
          </a:p>
        </p:txBody>
      </p:sp>
      <p:sp>
        <p:nvSpPr>
          <p:cNvPr id="72" name="TextBox 71">
            <a:extLst>
              <a:ext uri="{FF2B5EF4-FFF2-40B4-BE49-F238E27FC236}">
                <a16:creationId xmlns:a16="http://schemas.microsoft.com/office/drawing/2014/main" id="{43B321E4-0ED4-CD28-5E03-9E4BB2562450}"/>
              </a:ext>
            </a:extLst>
          </p:cNvPr>
          <p:cNvSpPr txBox="1"/>
          <p:nvPr/>
        </p:nvSpPr>
        <p:spPr>
          <a:xfrm>
            <a:off x="7414195" y="27164254"/>
            <a:ext cx="506350" cy="430887"/>
          </a:xfrm>
          <a:prstGeom prst="rect">
            <a:avLst/>
          </a:prstGeom>
          <a:noFill/>
        </p:spPr>
        <p:txBody>
          <a:bodyPr wrap="square" rtlCol="0">
            <a:spAutoFit/>
          </a:bodyPr>
          <a:lstStyle/>
          <a:p>
            <a:r>
              <a:rPr lang="en-US" sz="2200" b="1" dirty="0">
                <a:latin typeface="Arial" panose="020B0604020202020204" pitchFamily="34" charset="0"/>
                <a:cs typeface="Arial" panose="020B0604020202020204" pitchFamily="34" charset="0"/>
              </a:rPr>
              <a:t>B</a:t>
            </a:r>
          </a:p>
        </p:txBody>
      </p:sp>
      <p:sp>
        <p:nvSpPr>
          <p:cNvPr id="73" name="TextBox 72">
            <a:extLst>
              <a:ext uri="{FF2B5EF4-FFF2-40B4-BE49-F238E27FC236}">
                <a16:creationId xmlns:a16="http://schemas.microsoft.com/office/drawing/2014/main" id="{0E567076-0900-194D-2EC9-63DA9FB6BAC5}"/>
              </a:ext>
            </a:extLst>
          </p:cNvPr>
          <p:cNvSpPr txBox="1"/>
          <p:nvPr/>
        </p:nvSpPr>
        <p:spPr>
          <a:xfrm>
            <a:off x="10323482" y="27159459"/>
            <a:ext cx="506349" cy="430887"/>
          </a:xfrm>
          <a:prstGeom prst="rect">
            <a:avLst/>
          </a:prstGeom>
          <a:noFill/>
        </p:spPr>
        <p:txBody>
          <a:bodyPr wrap="square" rtlCol="0">
            <a:spAutoFit/>
          </a:bodyPr>
          <a:lstStyle/>
          <a:p>
            <a:r>
              <a:rPr lang="en-US" sz="2200" b="1" dirty="0">
                <a:latin typeface="Arial" panose="020B0604020202020204" pitchFamily="34" charset="0"/>
                <a:cs typeface="Arial" panose="020B0604020202020204" pitchFamily="34" charset="0"/>
              </a:rPr>
              <a:t>C</a:t>
            </a:r>
          </a:p>
        </p:txBody>
      </p:sp>
      <p:sp>
        <p:nvSpPr>
          <p:cNvPr id="74" name="TextBox 73">
            <a:extLst>
              <a:ext uri="{FF2B5EF4-FFF2-40B4-BE49-F238E27FC236}">
                <a16:creationId xmlns:a16="http://schemas.microsoft.com/office/drawing/2014/main" id="{D0006265-B59F-50B5-F918-0A56F29CC462}"/>
              </a:ext>
            </a:extLst>
          </p:cNvPr>
          <p:cNvSpPr txBox="1"/>
          <p:nvPr/>
        </p:nvSpPr>
        <p:spPr>
          <a:xfrm>
            <a:off x="775834" y="33183433"/>
            <a:ext cx="645771" cy="430887"/>
          </a:xfrm>
          <a:prstGeom prst="rect">
            <a:avLst/>
          </a:prstGeom>
          <a:noFill/>
        </p:spPr>
        <p:txBody>
          <a:bodyPr wrap="square" rtlCol="0">
            <a:spAutoFit/>
          </a:bodyPr>
          <a:lstStyle/>
          <a:p>
            <a:r>
              <a:rPr lang="en-US" sz="2200" b="1" dirty="0">
                <a:latin typeface="Arial" panose="020B0604020202020204" pitchFamily="34" charset="0"/>
                <a:cs typeface="Arial" panose="020B0604020202020204" pitchFamily="34" charset="0"/>
              </a:rPr>
              <a:t>D</a:t>
            </a:r>
          </a:p>
        </p:txBody>
      </p:sp>
      <p:sp>
        <p:nvSpPr>
          <p:cNvPr id="75" name="TextBox 74">
            <a:extLst>
              <a:ext uri="{FF2B5EF4-FFF2-40B4-BE49-F238E27FC236}">
                <a16:creationId xmlns:a16="http://schemas.microsoft.com/office/drawing/2014/main" id="{67F2F176-01BD-B87A-B817-52B9C5D2DDD2}"/>
              </a:ext>
            </a:extLst>
          </p:cNvPr>
          <p:cNvSpPr txBox="1"/>
          <p:nvPr/>
        </p:nvSpPr>
        <p:spPr>
          <a:xfrm>
            <a:off x="746994" y="40752384"/>
            <a:ext cx="13392503" cy="1600438"/>
          </a:xfrm>
          <a:prstGeom prst="rect">
            <a:avLst/>
          </a:prstGeom>
          <a:noFill/>
        </p:spPr>
        <p:txBody>
          <a:bodyPr wrap="square" rtlCol="0">
            <a:spAutoFit/>
          </a:bodyPr>
          <a:lstStyle/>
          <a:p>
            <a:pPr marL="415925" indent="-415925">
              <a:buAutoNum type="arabicPeriod"/>
            </a:pPr>
            <a:r>
              <a:rPr lang="en-US" sz="2000" dirty="0">
                <a:latin typeface="Arial" panose="020B0604020202020204" pitchFamily="34" charset="0"/>
                <a:cs typeface="Arial" panose="020B0604020202020204" pitchFamily="34" charset="0"/>
              </a:rPr>
              <a:t>CD15⁺ cells are predominantly enriched within the A-program across SHH, Group 3, and 4 MB subtypes. </a:t>
            </a:r>
          </a:p>
          <a:p>
            <a:pPr marL="415925" indent="-415925">
              <a:buAutoNum type="arabicPeriod"/>
            </a:pPr>
            <a:r>
              <a:rPr lang="en-US" sz="2000" dirty="0">
                <a:latin typeface="Arial" panose="020B0604020202020204" pitchFamily="34" charset="0"/>
                <a:cs typeface="Arial" panose="020B0604020202020204" pitchFamily="34" charset="0"/>
              </a:rPr>
              <a:t>~48% of A-program cells in SHH are CD15⁺, compared to ~21% in Group 3 and ~31% in Group 4.</a:t>
            </a:r>
          </a:p>
          <a:p>
            <a:pPr marL="415925" indent="-415925"/>
            <a:r>
              <a:rPr lang="en-US" sz="2000" i="1" dirty="0">
                <a:latin typeface="Arial" panose="020B0604020202020204" pitchFamily="34" charset="0"/>
                <a:cs typeface="Arial" panose="020B0604020202020204" pitchFamily="34" charset="0"/>
              </a:rPr>
              <a:t>A-program: </a:t>
            </a:r>
            <a:r>
              <a:rPr lang="en-US" sz="2000" dirty="0">
                <a:latin typeface="Arial" panose="020B0604020202020204" pitchFamily="34" charset="0"/>
                <a:cs typeface="Arial" panose="020B0604020202020204" pitchFamily="34" charset="0"/>
              </a:rPr>
              <a:t>cycling cells; </a:t>
            </a:r>
            <a:r>
              <a:rPr lang="en-US" sz="2000" i="1" dirty="0">
                <a:latin typeface="Arial" panose="020B0604020202020204" pitchFamily="34" charset="0"/>
                <a:cs typeface="Arial" panose="020B0604020202020204" pitchFamily="34" charset="0"/>
              </a:rPr>
              <a:t>B-program: </a:t>
            </a:r>
            <a:r>
              <a:rPr lang="en-US" sz="2000" dirty="0">
                <a:latin typeface="Arial" panose="020B0604020202020204" pitchFamily="34" charset="0"/>
                <a:cs typeface="Arial" panose="020B0604020202020204" pitchFamily="34" charset="0"/>
              </a:rPr>
              <a:t>progenitor-like cells; </a:t>
            </a:r>
            <a:r>
              <a:rPr lang="en-US" sz="2000" i="1" dirty="0">
                <a:latin typeface="Arial" panose="020B0604020202020204" pitchFamily="34" charset="0"/>
                <a:cs typeface="Arial" panose="020B0604020202020204" pitchFamily="34" charset="0"/>
              </a:rPr>
              <a:t>C-program: </a:t>
            </a:r>
            <a:r>
              <a:rPr lang="en-US" sz="2000" dirty="0">
                <a:latin typeface="Arial" panose="020B0604020202020204" pitchFamily="34" charset="0"/>
                <a:cs typeface="Arial" panose="020B0604020202020204" pitchFamily="34" charset="0"/>
              </a:rPr>
              <a:t>differentiated-like cells; </a:t>
            </a:r>
            <a:r>
              <a:rPr lang="en-US" sz="2000" i="1" dirty="0">
                <a:latin typeface="Arial" panose="020B0604020202020204" pitchFamily="34" charset="0"/>
                <a:cs typeface="Arial" panose="020B0604020202020204" pitchFamily="34" charset="0"/>
              </a:rPr>
              <a:t>X-program: </a:t>
            </a:r>
            <a:r>
              <a:rPr lang="en-US" sz="2000" dirty="0">
                <a:latin typeface="Arial" panose="020B0604020202020204" pitchFamily="34" charset="0"/>
                <a:cs typeface="Arial" panose="020B0604020202020204" pitchFamily="34" charset="0"/>
              </a:rPr>
              <a:t>patient-specific populations/clusters.</a:t>
            </a:r>
          </a:p>
          <a:p>
            <a:endParaRPr lang="en-US" sz="1800" dirty="0">
              <a:latin typeface="Arial" panose="020B0604020202020204" pitchFamily="34" charset="0"/>
              <a:cs typeface="Arial" panose="020B0604020202020204" pitchFamily="34" charset="0"/>
            </a:endParaRPr>
          </a:p>
        </p:txBody>
      </p:sp>
      <p:pic>
        <p:nvPicPr>
          <p:cNvPr id="77" name="Picture 76">
            <a:extLst>
              <a:ext uri="{FF2B5EF4-FFF2-40B4-BE49-F238E27FC236}">
                <a16:creationId xmlns:a16="http://schemas.microsoft.com/office/drawing/2014/main" id="{E6F3DE0B-DB03-C7BA-09C2-0635FE485AF8}"/>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4873323" y="5797351"/>
            <a:ext cx="4282464" cy="3568720"/>
          </a:xfrm>
          <a:prstGeom prst="rect">
            <a:avLst/>
          </a:prstGeom>
        </p:spPr>
      </p:pic>
      <p:pic>
        <p:nvPicPr>
          <p:cNvPr id="79" name="Picture 78">
            <a:extLst>
              <a:ext uri="{FF2B5EF4-FFF2-40B4-BE49-F238E27FC236}">
                <a16:creationId xmlns:a16="http://schemas.microsoft.com/office/drawing/2014/main" id="{6E07EC2B-71FA-67E2-33CB-99ED4DE064FD}"/>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5660736" y="9305031"/>
            <a:ext cx="7007025" cy="5605620"/>
          </a:xfrm>
          <a:prstGeom prst="rect">
            <a:avLst/>
          </a:prstGeom>
        </p:spPr>
      </p:pic>
      <p:pic>
        <p:nvPicPr>
          <p:cNvPr id="81" name="Picture 80">
            <a:extLst>
              <a:ext uri="{FF2B5EF4-FFF2-40B4-BE49-F238E27FC236}">
                <a16:creationId xmlns:a16="http://schemas.microsoft.com/office/drawing/2014/main" id="{3D540477-228A-D564-DD79-E5E52C03C95E}"/>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20031399" y="5823723"/>
            <a:ext cx="4282465" cy="3568721"/>
          </a:xfrm>
          <a:prstGeom prst="rect">
            <a:avLst/>
          </a:prstGeom>
        </p:spPr>
      </p:pic>
      <p:pic>
        <p:nvPicPr>
          <p:cNvPr id="85" name="Picture 84">
            <a:extLst>
              <a:ext uri="{FF2B5EF4-FFF2-40B4-BE49-F238E27FC236}">
                <a16:creationId xmlns:a16="http://schemas.microsoft.com/office/drawing/2014/main" id="{C6FCE766-7980-66D4-55BC-6F875D897653}"/>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5131438" y="5784613"/>
            <a:ext cx="4295307" cy="3579422"/>
          </a:xfrm>
          <a:prstGeom prst="rect">
            <a:avLst/>
          </a:prstGeom>
        </p:spPr>
      </p:pic>
      <p:sp>
        <p:nvSpPr>
          <p:cNvPr id="86" name="TextBox 85">
            <a:extLst>
              <a:ext uri="{FF2B5EF4-FFF2-40B4-BE49-F238E27FC236}">
                <a16:creationId xmlns:a16="http://schemas.microsoft.com/office/drawing/2014/main" id="{687B0F13-9B9E-2B1D-8263-E3CF05DDF00F}"/>
              </a:ext>
            </a:extLst>
          </p:cNvPr>
          <p:cNvSpPr txBox="1"/>
          <p:nvPr/>
        </p:nvSpPr>
        <p:spPr>
          <a:xfrm>
            <a:off x="16737806" y="5307131"/>
            <a:ext cx="1371600" cy="461665"/>
          </a:xfrm>
          <a:prstGeom prst="rect">
            <a:avLst/>
          </a:prstGeom>
          <a:noFill/>
        </p:spPr>
        <p:txBody>
          <a:bodyPr wrap="square" rtlCol="0">
            <a:spAutoFit/>
          </a:bodyPr>
          <a:lstStyle/>
          <a:p>
            <a:r>
              <a:rPr lang="en-US" sz="2400" dirty="0">
                <a:effectLst>
                  <a:outerShdw blurRad="38100" dist="38100" dir="2700000" algn="tl">
                    <a:srgbClr val="000000">
                      <a:alpha val="43137"/>
                    </a:srgbClr>
                  </a:outerShdw>
                </a:effectLst>
              </a:rPr>
              <a:t>SHH</a:t>
            </a:r>
          </a:p>
        </p:txBody>
      </p:sp>
      <p:sp>
        <p:nvSpPr>
          <p:cNvPr id="87" name="TextBox 86">
            <a:extLst>
              <a:ext uri="{FF2B5EF4-FFF2-40B4-BE49-F238E27FC236}">
                <a16:creationId xmlns:a16="http://schemas.microsoft.com/office/drawing/2014/main" id="{75846E0B-3691-D85F-2E5C-FA3E1BDA9B24}"/>
              </a:ext>
            </a:extLst>
          </p:cNvPr>
          <p:cNvSpPr txBox="1"/>
          <p:nvPr/>
        </p:nvSpPr>
        <p:spPr>
          <a:xfrm>
            <a:off x="21654170" y="5276314"/>
            <a:ext cx="1371600" cy="461665"/>
          </a:xfrm>
          <a:prstGeom prst="rect">
            <a:avLst/>
          </a:prstGeom>
          <a:noFill/>
        </p:spPr>
        <p:txBody>
          <a:bodyPr wrap="square" rtlCol="0">
            <a:spAutoFit/>
          </a:bodyPr>
          <a:lstStyle/>
          <a:p>
            <a:r>
              <a:rPr lang="en-US" sz="2400" dirty="0">
                <a:effectLst>
                  <a:outerShdw blurRad="38100" dist="38100" dir="2700000" algn="tl">
                    <a:srgbClr val="000000">
                      <a:alpha val="43137"/>
                    </a:srgbClr>
                  </a:outerShdw>
                </a:effectLst>
              </a:rPr>
              <a:t>Group 3</a:t>
            </a:r>
          </a:p>
        </p:txBody>
      </p:sp>
      <p:sp>
        <p:nvSpPr>
          <p:cNvPr id="88" name="TextBox 87">
            <a:extLst>
              <a:ext uri="{FF2B5EF4-FFF2-40B4-BE49-F238E27FC236}">
                <a16:creationId xmlns:a16="http://schemas.microsoft.com/office/drawing/2014/main" id="{3D3EB056-EA5C-9636-9A84-2595BB258379}"/>
              </a:ext>
            </a:extLst>
          </p:cNvPr>
          <p:cNvSpPr txBox="1"/>
          <p:nvPr/>
        </p:nvSpPr>
        <p:spPr>
          <a:xfrm>
            <a:off x="26948606" y="5327184"/>
            <a:ext cx="1371600" cy="461665"/>
          </a:xfrm>
          <a:prstGeom prst="rect">
            <a:avLst/>
          </a:prstGeom>
          <a:noFill/>
        </p:spPr>
        <p:txBody>
          <a:bodyPr wrap="square" rtlCol="0">
            <a:spAutoFit/>
          </a:bodyPr>
          <a:lstStyle/>
          <a:p>
            <a:r>
              <a:rPr lang="en-US" sz="2400" dirty="0">
                <a:effectLst>
                  <a:outerShdw blurRad="38100" dist="38100" dir="2700000" algn="tl">
                    <a:srgbClr val="000000">
                      <a:alpha val="43137"/>
                    </a:srgbClr>
                  </a:outerShdw>
                </a:effectLst>
              </a:rPr>
              <a:t>Group 4</a:t>
            </a:r>
          </a:p>
        </p:txBody>
      </p:sp>
      <p:pic>
        <p:nvPicPr>
          <p:cNvPr id="90" name="Picture 89">
            <a:extLst>
              <a:ext uri="{FF2B5EF4-FFF2-40B4-BE49-F238E27FC236}">
                <a16:creationId xmlns:a16="http://schemas.microsoft.com/office/drawing/2014/main" id="{A3DEC096-56E3-FBBE-9F3C-10E5C048C6AE}"/>
              </a:ext>
            </a:extLst>
          </p:cNvPr>
          <p:cNvPicPr>
            <a:picLocks noChangeAspect="1"/>
          </p:cNvPicPr>
          <p:nvPr/>
        </p:nvPicPr>
        <p:blipFill>
          <a:blip r:embed="rId17"/>
          <a:stretch>
            <a:fillRect/>
          </a:stretch>
        </p:blipFill>
        <p:spPr>
          <a:xfrm>
            <a:off x="23400889" y="9337976"/>
            <a:ext cx="5605118" cy="5347194"/>
          </a:xfrm>
          <a:prstGeom prst="rect">
            <a:avLst/>
          </a:prstGeom>
        </p:spPr>
      </p:pic>
      <p:sp>
        <p:nvSpPr>
          <p:cNvPr id="91" name="TextBox 90">
            <a:extLst>
              <a:ext uri="{FF2B5EF4-FFF2-40B4-BE49-F238E27FC236}">
                <a16:creationId xmlns:a16="http://schemas.microsoft.com/office/drawing/2014/main" id="{630B20AB-6EE6-394C-EA03-DD28F463C11B}"/>
              </a:ext>
            </a:extLst>
          </p:cNvPr>
          <p:cNvSpPr txBox="1"/>
          <p:nvPr/>
        </p:nvSpPr>
        <p:spPr>
          <a:xfrm>
            <a:off x="14653380" y="14819256"/>
            <a:ext cx="15252639" cy="2246769"/>
          </a:xfrm>
          <a:prstGeom prst="rect">
            <a:avLst/>
          </a:prstGeom>
          <a:noFill/>
        </p:spPr>
        <p:txBody>
          <a:bodyPr wrap="square" rtlCol="0">
            <a:spAutoFit/>
          </a:bodyPr>
          <a:lstStyle/>
          <a:p>
            <a:pPr marL="342900" indent="-342900" algn="just">
              <a:buAutoNum type="alphaUcPeriod"/>
            </a:pPr>
            <a:r>
              <a:rPr lang="en-US" sz="2000" dirty="0">
                <a:latin typeface="Arial" panose="020B0604020202020204" pitchFamily="34" charset="0"/>
                <a:cs typeface="Arial" panose="020B0604020202020204" pitchFamily="34" charset="0"/>
              </a:rPr>
              <a:t>Pseudobulk differentially expression analysis comparing CD15 ⁺ vs CD15</a:t>
            </a:r>
            <a:r>
              <a:rPr lang="en-US" sz="2000" baseline="30000"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cells within the A-program (G2/M cells) across SHH, Group 3 and  4  shows similar set of upregulated genes across subtypes, suggesting a consistent/conserved cellular state. </a:t>
            </a:r>
          </a:p>
          <a:p>
            <a:pPr marL="342900" indent="-342900" algn="just">
              <a:buAutoNum type="alphaUcPeriod"/>
            </a:pPr>
            <a:r>
              <a:rPr lang="en-US" sz="2000" dirty="0">
                <a:latin typeface="Arial" panose="020B0604020202020204" pitchFamily="34" charset="0"/>
                <a:cs typeface="Arial" panose="020B0604020202020204" pitchFamily="34" charset="0"/>
              </a:rPr>
              <a:t>Representative functional enrichment analysis highlights significant upregulation of pathways related to chromosome segregation, mitotic processes, and nuclear division-consistent with the CD15⁺ proliferative signature, alongside downregulation of differentiation-associated programs. </a:t>
            </a:r>
          </a:p>
          <a:p>
            <a:pPr marL="342900" indent="-342900" algn="just">
              <a:buAutoNum type="alphaUcPeriod"/>
            </a:pPr>
            <a:r>
              <a:rPr lang="en-US" sz="2000" dirty="0" err="1">
                <a:latin typeface="Arial" panose="020B0604020202020204" pitchFamily="34" charset="0"/>
                <a:cs typeface="Arial" panose="020B0604020202020204" pitchFamily="34" charset="0"/>
              </a:rPr>
              <a:t>UpSet</a:t>
            </a:r>
            <a:r>
              <a:rPr lang="en-US" sz="2000" dirty="0">
                <a:latin typeface="Arial" panose="020B0604020202020204" pitchFamily="34" charset="0"/>
                <a:cs typeface="Arial" panose="020B0604020202020204" pitchFamily="34" charset="0"/>
              </a:rPr>
              <a:t> plot showing the distribution of DEGs (CD15 ⁺ vs CD15</a:t>
            </a:r>
            <a:r>
              <a:rPr lang="en-US" sz="2000" baseline="30000"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across subtypes, displays 177 DEGs in common across subtypes . SHH</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exhibits the highest number of unique DEGs (215), followed by Group 4 (131) and Group 3 (79).</a:t>
            </a:r>
          </a:p>
        </p:txBody>
      </p:sp>
      <p:sp>
        <p:nvSpPr>
          <p:cNvPr id="92" name="TextBox 91">
            <a:extLst>
              <a:ext uri="{FF2B5EF4-FFF2-40B4-BE49-F238E27FC236}">
                <a16:creationId xmlns:a16="http://schemas.microsoft.com/office/drawing/2014/main" id="{D116683B-D350-DF49-BEE1-F85348CBD6C0}"/>
              </a:ext>
            </a:extLst>
          </p:cNvPr>
          <p:cNvSpPr txBox="1"/>
          <p:nvPr/>
        </p:nvSpPr>
        <p:spPr>
          <a:xfrm>
            <a:off x="14756606" y="5430242"/>
            <a:ext cx="338980" cy="430887"/>
          </a:xfrm>
          <a:prstGeom prst="rect">
            <a:avLst/>
          </a:prstGeom>
          <a:noFill/>
        </p:spPr>
        <p:txBody>
          <a:bodyPr wrap="square" rtlCol="0">
            <a:spAutoFit/>
          </a:bodyPr>
          <a:lstStyle/>
          <a:p>
            <a:r>
              <a:rPr lang="en-US" sz="2200" b="1" dirty="0">
                <a:latin typeface="Arial" panose="020B0604020202020204" pitchFamily="34" charset="0"/>
                <a:cs typeface="Arial" panose="020B0604020202020204" pitchFamily="34" charset="0"/>
              </a:rPr>
              <a:t>A</a:t>
            </a:r>
          </a:p>
        </p:txBody>
      </p:sp>
      <p:sp>
        <p:nvSpPr>
          <p:cNvPr id="93" name="TextBox 92">
            <a:extLst>
              <a:ext uri="{FF2B5EF4-FFF2-40B4-BE49-F238E27FC236}">
                <a16:creationId xmlns:a16="http://schemas.microsoft.com/office/drawing/2014/main" id="{D3CF4C63-8592-EBDF-E5BD-5CE2A215D378}"/>
              </a:ext>
            </a:extLst>
          </p:cNvPr>
          <p:cNvSpPr txBox="1"/>
          <p:nvPr/>
        </p:nvSpPr>
        <p:spPr>
          <a:xfrm>
            <a:off x="14807874" y="9403857"/>
            <a:ext cx="338980" cy="430887"/>
          </a:xfrm>
          <a:prstGeom prst="rect">
            <a:avLst/>
          </a:prstGeom>
          <a:noFill/>
        </p:spPr>
        <p:txBody>
          <a:bodyPr wrap="square" rtlCol="0">
            <a:spAutoFit/>
          </a:bodyPr>
          <a:lstStyle/>
          <a:p>
            <a:r>
              <a:rPr lang="en-US" sz="2200" b="1" dirty="0">
                <a:latin typeface="Arial" panose="020B0604020202020204" pitchFamily="34" charset="0"/>
                <a:cs typeface="Arial" panose="020B0604020202020204" pitchFamily="34" charset="0"/>
              </a:rPr>
              <a:t>B</a:t>
            </a:r>
          </a:p>
        </p:txBody>
      </p:sp>
      <p:sp>
        <p:nvSpPr>
          <p:cNvPr id="94" name="TextBox 93">
            <a:extLst>
              <a:ext uri="{FF2B5EF4-FFF2-40B4-BE49-F238E27FC236}">
                <a16:creationId xmlns:a16="http://schemas.microsoft.com/office/drawing/2014/main" id="{6FC67476-1723-361A-A4D2-712F886169F4}"/>
              </a:ext>
            </a:extLst>
          </p:cNvPr>
          <p:cNvSpPr txBox="1"/>
          <p:nvPr/>
        </p:nvSpPr>
        <p:spPr>
          <a:xfrm>
            <a:off x="23089592" y="9403857"/>
            <a:ext cx="338980" cy="430887"/>
          </a:xfrm>
          <a:prstGeom prst="rect">
            <a:avLst/>
          </a:prstGeom>
          <a:noFill/>
        </p:spPr>
        <p:txBody>
          <a:bodyPr wrap="square" rtlCol="0">
            <a:spAutoFit/>
          </a:bodyPr>
          <a:lstStyle/>
          <a:p>
            <a:r>
              <a:rPr lang="en-US" sz="2200" b="1" dirty="0">
                <a:latin typeface="Arial" panose="020B0604020202020204" pitchFamily="34" charset="0"/>
                <a:cs typeface="Arial" panose="020B0604020202020204" pitchFamily="34" charset="0"/>
              </a:rPr>
              <a:t>C</a:t>
            </a:r>
          </a:p>
        </p:txBody>
      </p:sp>
      <p:pic>
        <p:nvPicPr>
          <p:cNvPr id="97" name="Picture 96">
            <a:extLst>
              <a:ext uri="{FF2B5EF4-FFF2-40B4-BE49-F238E27FC236}">
                <a16:creationId xmlns:a16="http://schemas.microsoft.com/office/drawing/2014/main" id="{DD6BF4B6-84AD-EF32-CA7A-2287C3F8D95F}"/>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6415173" y="17014983"/>
            <a:ext cx="5782787" cy="4818989"/>
          </a:xfrm>
          <a:prstGeom prst="rect">
            <a:avLst/>
          </a:prstGeom>
        </p:spPr>
      </p:pic>
      <p:sp>
        <p:nvSpPr>
          <p:cNvPr id="99" name="Oval 98">
            <a:extLst>
              <a:ext uri="{FF2B5EF4-FFF2-40B4-BE49-F238E27FC236}">
                <a16:creationId xmlns:a16="http://schemas.microsoft.com/office/drawing/2014/main" id="{726DC542-F125-79DF-B0E1-B795D9482372}"/>
              </a:ext>
            </a:extLst>
          </p:cNvPr>
          <p:cNvSpPr/>
          <p:nvPr/>
        </p:nvSpPr>
        <p:spPr>
          <a:xfrm rot="1207219">
            <a:off x="17005363" y="17874464"/>
            <a:ext cx="838200" cy="1272676"/>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1" name="Picture 100">
            <a:extLst>
              <a:ext uri="{FF2B5EF4-FFF2-40B4-BE49-F238E27FC236}">
                <a16:creationId xmlns:a16="http://schemas.microsoft.com/office/drawing/2014/main" id="{33BA03D9-869C-A78E-84F9-2C65C7B93E6A}"/>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2251259" y="17077438"/>
            <a:ext cx="5760357" cy="4800297"/>
          </a:xfrm>
          <a:prstGeom prst="rect">
            <a:avLst/>
          </a:prstGeom>
        </p:spPr>
      </p:pic>
      <p:sp>
        <p:nvSpPr>
          <p:cNvPr id="102" name="TextBox 101">
            <a:extLst>
              <a:ext uri="{FF2B5EF4-FFF2-40B4-BE49-F238E27FC236}">
                <a16:creationId xmlns:a16="http://schemas.microsoft.com/office/drawing/2014/main" id="{291E8623-823E-3F49-5A5B-476B17AFDA54}"/>
              </a:ext>
            </a:extLst>
          </p:cNvPr>
          <p:cNvSpPr txBox="1"/>
          <p:nvPr/>
        </p:nvSpPr>
        <p:spPr>
          <a:xfrm>
            <a:off x="16298456" y="17177902"/>
            <a:ext cx="338980" cy="430887"/>
          </a:xfrm>
          <a:prstGeom prst="rect">
            <a:avLst/>
          </a:prstGeom>
          <a:noFill/>
        </p:spPr>
        <p:txBody>
          <a:bodyPr wrap="square" rtlCol="0">
            <a:spAutoFit/>
          </a:bodyPr>
          <a:lstStyle/>
          <a:p>
            <a:r>
              <a:rPr lang="en-US" sz="2200" b="1" dirty="0">
                <a:latin typeface="Arial" panose="020B0604020202020204" pitchFamily="34" charset="0"/>
                <a:cs typeface="Arial" panose="020B0604020202020204" pitchFamily="34" charset="0"/>
              </a:rPr>
              <a:t>D</a:t>
            </a:r>
          </a:p>
        </p:txBody>
      </p:sp>
      <p:sp>
        <p:nvSpPr>
          <p:cNvPr id="103" name="TextBox 102">
            <a:extLst>
              <a:ext uri="{FF2B5EF4-FFF2-40B4-BE49-F238E27FC236}">
                <a16:creationId xmlns:a16="http://schemas.microsoft.com/office/drawing/2014/main" id="{761539A2-BFD5-5C9A-68C3-365E40D27D93}"/>
              </a:ext>
            </a:extLst>
          </p:cNvPr>
          <p:cNvSpPr txBox="1"/>
          <p:nvPr/>
        </p:nvSpPr>
        <p:spPr>
          <a:xfrm>
            <a:off x="22107893" y="17077438"/>
            <a:ext cx="338980" cy="430887"/>
          </a:xfrm>
          <a:prstGeom prst="rect">
            <a:avLst/>
          </a:prstGeom>
          <a:noFill/>
        </p:spPr>
        <p:txBody>
          <a:bodyPr wrap="square" rtlCol="0">
            <a:spAutoFit/>
          </a:bodyPr>
          <a:lstStyle/>
          <a:p>
            <a:r>
              <a:rPr lang="en-US" sz="2200" b="1" dirty="0">
                <a:latin typeface="Arial" panose="020B0604020202020204" pitchFamily="34" charset="0"/>
                <a:cs typeface="Arial" panose="020B0604020202020204" pitchFamily="34" charset="0"/>
              </a:rPr>
              <a:t>E</a:t>
            </a:r>
          </a:p>
        </p:txBody>
      </p:sp>
      <p:sp>
        <p:nvSpPr>
          <p:cNvPr id="2" name="Rectangle 1">
            <a:extLst>
              <a:ext uri="{FF2B5EF4-FFF2-40B4-BE49-F238E27FC236}">
                <a16:creationId xmlns:a16="http://schemas.microsoft.com/office/drawing/2014/main" id="{A3071015-B62C-6A85-40D7-7E2E17EE79E1}"/>
              </a:ext>
            </a:extLst>
          </p:cNvPr>
          <p:cNvSpPr/>
          <p:nvPr/>
        </p:nvSpPr>
        <p:spPr>
          <a:xfrm>
            <a:off x="24189384" y="9181155"/>
            <a:ext cx="701822" cy="402128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13856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CAAP Template (36 x48)">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A0 Template" id="{A1EC74D7-579A-7E4E-AB72-DD8D8738D851}" vid="{8FA94DC1-4F77-EA45-BA0B-0B4C1B47847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Nintex conditional workflow start</Name>
    <Synchronization>Synchronous</Synchronization>
    <Type>10001</Type>
    <SequenceNumber>50000</SequenceNumber>
    <Url/>
    <Assembly>Nintex.Workflow, Version=1.0.0.0, Culture=neutral, PublicKeyToken=913f6bae0ca5ae12</Assembly>
    <Class>Nintex.Workflow.ConditionalWorkflowStartReceiver</Class>
    <Data>636655374607727462</Data>
    <Filter/>
  </Receiver>
  <Receiver>
    <Name>Nintex conditional workflow start</Name>
    <Synchronization>Synchronous</Synchronization>
    <Type>10002</Type>
    <SequenceNumber>50000</SequenceNumber>
    <Url/>
    <Assembly>Nintex.Workflow, Version=1.0.0.0, Culture=neutral, PublicKeyToken=913f6bae0ca5ae12</Assembly>
    <Class>Nintex.Workflow.ConditionalWorkflowStartReceiver</Class>
    <Data>636655374607727462</Data>
    <Filter/>
  </Receiver>
  <Receiver>
    <Name>Nintex conditional workflow start</Name>
    <Synchronization>Synchronous</Synchronization>
    <Type>2</Type>
    <SequenceNumber>50000</SequenceNumber>
    <Url/>
    <Assembly>Nintex.Workflow, Version=1.0.0.0, Culture=neutral, PublicKeyToken=913f6bae0ca5ae12</Assembly>
    <Class>Nintex.Workflow.ConditionalWorkflowStartReceiver</Class>
    <Data>636655374607727462</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B67CCC0B4F7B8043919F13A80C061512" ma:contentTypeVersion="1" ma:contentTypeDescription="Create a new document." ma:contentTypeScope="" ma:versionID="a9fd10482693f311596d9f358eb9dbe5">
  <xsd:schema xmlns:xsd="http://www.w3.org/2001/XMLSchema" xmlns:xs="http://www.w3.org/2001/XMLSchema" xmlns:p="http://schemas.microsoft.com/office/2006/metadata/properties" targetNamespace="http://schemas.microsoft.com/office/2006/metadata/properties" ma:root="true" ma:fieldsID="81ed251056e4bb5490090c89f65c250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C0DD6F8-8D11-475C-878A-5B90F233BCD4}">
  <ds:schemaRefs>
    <ds:schemaRef ds:uri="http://schemas.microsoft.com/office/2006/documentManagement/types"/>
    <ds:schemaRef ds:uri="http://schemas.microsoft.com/office/2006/metadata/properties"/>
    <ds:schemaRef ds:uri="http://www.w3.org/XML/1998/namespace"/>
    <ds:schemaRef ds:uri="http://purl.org/dc/elements/1.1/"/>
    <ds:schemaRef ds:uri="http://purl.org/dc/terms/"/>
    <ds:schemaRef ds:uri="http://purl.org/dc/dcmitype/"/>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BC33E6A-48F7-440A-AED7-8FC89BF1F37E}">
  <ds:schemaRefs>
    <ds:schemaRef ds:uri="http://schemas.microsoft.com/sharepoint/v3/contenttype/forms"/>
  </ds:schemaRefs>
</ds:datastoreItem>
</file>

<file path=customXml/itemProps3.xml><?xml version="1.0" encoding="utf-8"?>
<ds:datastoreItem xmlns:ds="http://schemas.openxmlformats.org/officeDocument/2006/customXml" ds:itemID="{46BF2ACE-E83E-4A69-AF18-E78725F4471F}">
  <ds:schemaRefs>
    <ds:schemaRef ds:uri="http://schemas.microsoft.com/sharepoint/events"/>
  </ds:schemaRefs>
</ds:datastoreItem>
</file>

<file path=customXml/itemProps4.xml><?xml version="1.0" encoding="utf-8"?>
<ds:datastoreItem xmlns:ds="http://schemas.openxmlformats.org/officeDocument/2006/customXml" ds:itemID="{E50BD5C7-7EF1-4443-8098-B898197509F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Children's Health Poster Template (A0 European Vertical)</Template>
  <TotalTime>631</TotalTime>
  <Words>891</Words>
  <Application>Microsoft Office PowerPoint</Application>
  <PresentationFormat>Custom</PresentationFormat>
  <Paragraphs>66</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Corbel</vt:lpstr>
      <vt:lpstr>Courier New</vt:lpstr>
      <vt:lpstr>Palatino Linotype</vt:lpstr>
      <vt:lpstr>SCAAP Template (36 x48)</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Carlos Alfaro</dc:creator>
  <cp:lastModifiedBy>Carlos Alfaro</cp:lastModifiedBy>
  <cp:revision>79</cp:revision>
  <cp:lastPrinted>2013-01-15T15:45:42Z</cp:lastPrinted>
  <dcterms:created xsi:type="dcterms:W3CDTF">2026-05-03T22:41:48Z</dcterms:created>
  <dcterms:modified xsi:type="dcterms:W3CDTF">2026-05-04T16:18:34Z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0x010100B67CCC0B4F7B8043919F13A80C061512</vt:lpwstr>
  </property>
</Properties>
</file>